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RAG systems over one YouTube transcript. Part 1 is the standard semantic-search pipeline. Part 2 re-implements the Moment Search idea: retrieve timestamped moments, not fixed chunks. The bar at the top is the video's actual segmentation into 49 moments, drawn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youtube.com/watch?v=Unzc731iCUY. Manual English captions pulled with youtube-transcript-api, chapters with yt-dlp; both cached locally so runs after the first are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traversaal-ai/momentsearch — src/ingest/transcript.py (chunk_cues), src/rag/search.py (_fuse, _rerank, _gate_ok, _context, _validate_citations), src/rag/rerank.py. The write path samples frames, dedups them, embeds them with CLIP and indexes captions as 20-second chunks. The read path runs both branches, fuses by reciprocal rank into time windows, boosts cross-modal agreement, reranks, gates, then a vision LLM answers with numbered citations whose timestamps come from the retrieved payload.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src/momentrag/baseline.py. 200/40 is a typical tutorial setting; roughly 80 seconds of this lecture per chunk. Top-3 gives 600 words of context, almost exactly what Moment RAG's top-3 moments give (635). I also report top-5 (about 1,000 words) as a generous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ranks come from ranking all 55 baseline chunks for eval questions f01 and l03. The scores are close together (0.55 to 0.58), which is exactly the regime where a diluted chunk loses to chunks that are all about one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bars are drawn to scale from the actual segmentation (src/momentrag/moments.py). Chapter boundaries snap to the nearest window gap. Inside a chapter, a gap becomes a cut when its depth score is more than half a standard deviation above the mean, or when a segment is still longer than 150 seconds. Segments shorter than 40 seconds merge into the more similar neighbour. Cards come from the LLM when one is configured, otherwise from the chapter title plus TF-IDF keywords.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src/momentrag/moment_rag.py. Both gate thresholds come from a separate calibration set of 8 answerable and 6 unanswerable questions, never the test questions: rerank relevance below 0.10, and a dense-cosine cut-off re-fit for each video as the midpoint between the two groups (0.599 here). When the anchor is a moment's first or last window, the neighbouring window is added so an answer that straddles a boundary is read whole — Moment Search's CONTEXT_PAD_S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eval/run_eval.py --enrich-llm, results/llm-cards/retrieval_summary.md. Span MRR is 1 over the rank of the first result whose time span overlaps the gold span. For the baseline, the "jump" is its chunk's first-word time, which it never actually shows the user, so this is generous to the baseline. The wrongly refused question was "What share of an audience is fogged out?" With 30 answerable questions, one question is 3.3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answers are verbatim from results/llm-cards/answers.json. The anchor window at 00:38 is the lead-in ("the quality of communication ... is largely determined by this formula"); the three factors come in the next window. Matching on a 20-second window avoided the dilution that sank the 200-word chunk, and reading the whole moment gave the model the formula and "the T is very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adds one component to the row above. Latency is warm, per query, on a laptop CPU, and excludes the LLM call; the cross-encoder is what moves it from about 6 ms to about 40 ms. The extractive-card version of the "+ moment cards" row scored evidence 83.3%, MRR 0.817, jump lands 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retriever, same questions; only the moment boundaries change. Differences of one question (3.3 points) are within noise. The practical case for topic-aware cuts is context cost and a coherent unit to read; the case against very short moments is enumerations that run longer than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were generated once by gpt-5.6-luna and graded twice, by gpt-5.6-luna (eval/judge.py) and by claude-opus-5-5 (eval/claude_judge.py), with the same rubric. Counts are "correct" only. Claude is stricter: most disagreements are "where" questions under the 30-second rule and explanations that miss a secondary point. Explanations show no Moment RAG gain under either judge: two lists (Winston's star, what inspires people) run across moment boundaries. Residual leakage: the judge never sees the system, but answer style can hint at it, since only Moment RAG answers give timestamps and some baseline answers mention "excerpts". On the previous video (Karpathy, Intro to LLMs) the same pipeline scored 26 vs 22 under the GPT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headline: Moment RAG clearly improves retrieval and navigation. With LLM-written cards, the answer-quality advantage also survives an independent judge: 24 vs 21 under the GPT judge, 24 vs 19 under Claude. With extractive cards the two systems are effectively tied (23 vs 22 for the baseline under GPT, 21 vs 20 for Moment RAG under Claude), within the run-to-run variance of about two questions. The previous video (Karpathy) gave 26 vs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needed to reproduce this is in the repo: python eval/run_eval.py --enrich-llm --answers for metrics and answers, eval/judge.py for grading, eval/claude_judge.py for the independent Claude judge (needs ANTHROPIC_API_KEY). On judging: answer quality is still evaluated by an LLM rather than human raters. Using Claude as an independent judge reduces same-family bias, but answer style can still reveal which system produced a response. Retrieval-only metrics need no API key. Transcripts and moments are cached locally under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879525"/>
          </a:xfrm>
          <a:prstGeom prst="rect">
            <a:avLst/>
          </a:prstGeom>
          <a:noFill/>
          <a:ln/>
        </p:spPr>
        <p:txBody>
          <a:bodyPr wrap="square" lIns="0" tIns="0" rIns="0" bIns="0" rtlCol="0" anchor="t"/>
          <a:lstStyle>
            <a:lvl1pPr algn="l" indent="0" marL="0">
              <a:lnSpc>
                <a:spcPct val="115000"/>
              </a:lnSpc>
              <a:buNone/>
              <a:defRPr lang="en-US" sz="3200" dirty="0">
                <a:solidFill>
                  <a:srgbClr val="1521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312045"/>
            <a:ext cx="10566400" cy="3733155"/>
          </a:xfrm>
          <a:prstGeom prst="rect">
            <a:avLst/>
          </a:prstGeom>
          <a:noFill/>
          <a:ln/>
        </p:spPr>
        <p:txBody>
          <a:bodyPr wrap="square" lIns="0" tIns="0" rIns="0" bIns="0" rtlCol="0" anchor="t"/>
          <a:lstStyle>
            <a:lvl1pPr algn="l" indent="0" marL="0">
              <a:lnSpc>
                <a:spcPct val="140000"/>
              </a:lnSpc>
              <a:buNone/>
              <a:defRPr lang="en-US" sz="1600" dirty="0">
                <a:solidFill>
                  <a:srgbClr val="1521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12E"/>
        </a:solidFill>
      </p:bgPr>
    </p:bg>
    <p:spTree>
      <p:nvGrpSpPr>
        <p:cNvPr id="1" name=""/>
        <p:cNvGrpSpPr/>
        <p:nvPr/>
      </p:nvGrpSpPr>
      <p:grpSpPr>
        <a:xfrm>
          <a:off x="0" y="0"/>
          <a:ext cx="0" cy="0"/>
          <a:chOff x="0" y="0"/>
          <a:chExt cx="0" cy="0"/>
        </a:xfrm>
      </p:grpSpPr>
      <p:pic>
        <p:nvPicPr>
          <p:cNvPr id="2" name="Image 0" descr="The talk's 64-minute timeline split into its 49 moments">    </p:cNvPr>
          <p:cNvPicPr>
            <a:picLocks noChangeAspect="1"/>
          </p:cNvPicPr>
          <p:nvPr/>
        </p:nvPicPr>
        <p:blipFill>
          <a:blip r:embed="rId1"/>
          <a:srcRect l="-217" r="-217" t="0" b="0"/>
          <a:stretch/>
        </p:blipFill>
        <p:spPr>
          <a:xfrm>
            <a:off x="812800" y="812800"/>
            <a:ext cx="10566400" cy="457200"/>
          </a:xfrm>
          <a:prstGeom prst="rect">
            <a:avLst/>
          </a:prstGeom>
        </p:spPr>
      </p:pic>
      <p:sp>
        <p:nvSpPr>
          <p:cNvPr id="3" name="Text 0"/>
          <p:cNvSpPr/>
          <p:nvPr/>
        </p:nvSpPr>
        <p:spPr>
          <a:xfrm>
            <a:off x="812800" y="19939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00" kern="0" dirty="0">
                <a:solidFill>
                  <a:srgbClr val="E08A5E"/>
                </a:solidFill>
                <a:latin typeface="JetBrains Mono" pitchFamily="49" charset="0"/>
                <a:ea typeface="JetBrains Mono" pitchFamily="49" charset="-122"/>
                <a:cs typeface="JetBrains Mono" pitchFamily="49" charset="-120"/>
              </a:rPr>
              <a:t>MOMENT RAG ON A YOUTUBE TRANSCRIPT</a:t>
            </a:r>
            <a:endParaRPr lang="en-US" sz="1500" dirty="0"/>
          </a:p>
        </p:txBody>
      </p:sp>
      <p:sp>
        <p:nvSpPr>
          <p:cNvPr id="4" name="Text 1"/>
          <p:cNvSpPr/>
          <p:nvPr>
            <p:ph type="title"/>
          </p:nvPr>
        </p:nvSpPr>
        <p:spPr>
          <a:xfrm>
            <a:off x="812800" y="25146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F"/>
                </a:solidFill>
                <a:latin typeface="Space Grotesk" pitchFamily="34" charset="0"/>
                <a:ea typeface="Space Grotesk" pitchFamily="34" charset="-122"/>
                <a:cs typeface="Space Grotesk" pitchFamily="34" charset="-120"/>
              </a:rPr>
              <a:t>Implement semantic search</a:t>
            </a:r>
            <a:endParaRPr lang="en-US" sz="6000" dirty="0"/>
          </a:p>
          <a:p>
            <a:pPr algn="l" indent="0" marL="0">
              <a:lnSpc>
                <a:spcPts val="6300"/>
              </a:lnSpc>
              <a:buNone/>
            </a:pPr>
            <a:r>
              <a:rPr lang="en-US" sz="6000" b="1" i="0" dirty="0">
                <a:solidFill>
                  <a:srgbClr val="F6F4EF"/>
                </a:solidFill>
                <a:latin typeface="Space Grotesk" pitchFamily="34" charset="0"/>
                <a:ea typeface="Space Grotesk" pitchFamily="34" charset="-122"/>
                <a:cs typeface="Space Grotesk" pitchFamily="34" charset="-120"/>
              </a:rPr>
              <a:t>to moment search</a:t>
            </a:r>
            <a:endParaRPr lang="en-US" sz="6000" dirty="0"/>
          </a:p>
        </p:txBody>
      </p:sp>
      <p:sp>
        <p:nvSpPr>
          <p:cNvPr id="5" name="Text 2"/>
          <p:cNvSpPr/>
          <p:nvPr/>
        </p:nvSpPr>
        <p:spPr>
          <a:xfrm>
            <a:off x="812800" y="436880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4CF"/>
                </a:solidFill>
                <a:latin typeface="IBM Plex Sans" pitchFamily="34" charset="0"/>
                <a:ea typeface="IBM Plex Sans" pitchFamily="34" charset="-122"/>
                <a:cs typeface="IBM Plex Sans" pitchFamily="34" charset="-120"/>
              </a:rPr>
              <a:t>A baseline chunk RAG and a Moment RAG, built over the same YouTube transcript and compared on 36 labeled questions</a:t>
            </a:r>
            <a:endParaRPr lang="en-US" sz="2000" dirty="0"/>
          </a:p>
        </p:txBody>
      </p:sp>
      <p:sp>
        <p:nvSpPr>
          <p:cNvPr id="6"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CF"/>
                </a:solidFill>
                <a:latin typeface="IBM Plex Sans" pitchFamily="34" charset="0"/>
                <a:ea typeface="IBM Plex Sans" pitchFamily="34" charset="-122"/>
                <a:cs typeface="IBM Plex Sans" pitchFamily="34" charset="-120"/>
              </a:rPr>
              <a:t>Anurag Lahon · FDE Cohort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4461B"/>
                </a:solidFill>
                <a:latin typeface="JetBrains Mono" pitchFamily="49" charset="0"/>
                <a:ea typeface="JetBrains Mono" pitchFamily="49" charset="-122"/>
                <a:cs typeface="JetBrains Mono" pitchFamily="49" charset="-120"/>
              </a:rPr>
              <a:t>THE KNOWLEDGE SOURCE</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Patrick Winston, "How to Speak" (MIT OpenCourseWare)</a:t>
            </a:r>
            <a:endParaRPr lang="en-US" sz="3200" dirty="0"/>
          </a:p>
        </p:txBody>
      </p:sp>
      <p:sp>
        <p:nvSpPr>
          <p:cNvPr id="4" name="Shape 2"/>
          <p:cNvSpPr/>
          <p:nvPr/>
        </p:nvSpPr>
        <p:spPr>
          <a:xfrm>
            <a:off x="812800" y="2377380"/>
            <a:ext cx="2527300" cy="1239441"/>
          </a:xfrm>
          <a:prstGeom prst="roundRect">
            <a:avLst>
              <a:gd name="adj" fmla="val 8197"/>
            </a:avLst>
          </a:prstGeom>
          <a:solidFill>
            <a:srgbClr val="ECE8DF"/>
          </a:solidFill>
          <a:ln/>
        </p:spPr>
        <p:txBody>
          <a:bodyPr/>
          <a:p/>
        </p:txBody>
      </p:sp>
      <p:sp>
        <p:nvSpPr>
          <p:cNvPr id="5" name="Text 3"/>
          <p:cNvSpPr/>
          <p:nvPr/>
        </p:nvSpPr>
        <p:spPr>
          <a:xfrm>
            <a:off x="1016000" y="2580580"/>
            <a:ext cx="2184527"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5212E"/>
                </a:solidFill>
                <a:latin typeface="Space Grotesk" pitchFamily="34" charset="0"/>
                <a:ea typeface="Space Grotesk" pitchFamily="34" charset="-122"/>
                <a:cs typeface="Space Grotesk" pitchFamily="34" charset="-120"/>
              </a:rPr>
              <a:t>63:42</a:t>
            </a:r>
            <a:endParaRPr lang="en-US" sz="3200" dirty="0"/>
          </a:p>
        </p:txBody>
      </p:sp>
      <p:sp>
        <p:nvSpPr>
          <p:cNvPr id="6" name="Text 4"/>
          <p:cNvSpPr/>
          <p:nvPr/>
        </p:nvSpPr>
        <p:spPr>
          <a:xfrm>
            <a:off x="1016000" y="320030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one lecture, one speaker</a:t>
            </a:r>
            <a:endParaRPr lang="en-US" sz="1200" dirty="0"/>
          </a:p>
        </p:txBody>
      </p:sp>
      <p:sp>
        <p:nvSpPr>
          <p:cNvPr id="7" name="Shape 5"/>
          <p:cNvSpPr/>
          <p:nvPr/>
        </p:nvSpPr>
        <p:spPr>
          <a:xfrm>
            <a:off x="3492500" y="2377380"/>
            <a:ext cx="2527300" cy="1239441"/>
          </a:xfrm>
          <a:prstGeom prst="roundRect">
            <a:avLst>
              <a:gd name="adj" fmla="val 8197"/>
            </a:avLst>
          </a:prstGeom>
          <a:solidFill>
            <a:srgbClr val="ECE8DF"/>
          </a:solidFill>
          <a:ln/>
        </p:spPr>
        <p:txBody>
          <a:bodyPr/>
          <a:p/>
        </p:txBody>
      </p:sp>
      <p:sp>
        <p:nvSpPr>
          <p:cNvPr id="8" name="Text 6"/>
          <p:cNvSpPr/>
          <p:nvPr/>
        </p:nvSpPr>
        <p:spPr>
          <a:xfrm>
            <a:off x="3695700" y="2580580"/>
            <a:ext cx="2184527"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5212E"/>
                </a:solidFill>
                <a:latin typeface="Space Grotesk" pitchFamily="34" charset="0"/>
                <a:ea typeface="Space Grotesk" pitchFamily="34" charset="-122"/>
                <a:cs typeface="Space Grotesk" pitchFamily="34" charset="-120"/>
              </a:rPr>
              <a:t>11</a:t>
            </a:r>
            <a:endParaRPr lang="en-US" sz="3200" dirty="0"/>
          </a:p>
        </p:txBody>
      </p:sp>
      <p:sp>
        <p:nvSpPr>
          <p:cNvPr id="9" name="Text 7"/>
          <p:cNvSpPr/>
          <p:nvPr/>
        </p:nvSpPr>
        <p:spPr>
          <a:xfrm>
            <a:off x="3695700" y="320030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chapters, one of them 23 min</a:t>
            </a:r>
            <a:endParaRPr lang="en-US" sz="1200" dirty="0"/>
          </a:p>
        </p:txBody>
      </p:sp>
      <p:sp>
        <p:nvSpPr>
          <p:cNvPr id="10" name="Shape 8"/>
          <p:cNvSpPr/>
          <p:nvPr/>
        </p:nvSpPr>
        <p:spPr>
          <a:xfrm>
            <a:off x="6172200" y="2377380"/>
            <a:ext cx="2527300" cy="1239441"/>
          </a:xfrm>
          <a:prstGeom prst="roundRect">
            <a:avLst>
              <a:gd name="adj" fmla="val 8197"/>
            </a:avLst>
          </a:prstGeom>
          <a:solidFill>
            <a:srgbClr val="ECE8DF"/>
          </a:solidFill>
          <a:ln/>
        </p:spPr>
        <p:txBody>
          <a:bodyPr/>
          <a:p/>
        </p:txBody>
      </p:sp>
      <p:sp>
        <p:nvSpPr>
          <p:cNvPr id="11" name="Text 9"/>
          <p:cNvSpPr/>
          <p:nvPr/>
        </p:nvSpPr>
        <p:spPr>
          <a:xfrm>
            <a:off x="6375400" y="2580580"/>
            <a:ext cx="2184527"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5212E"/>
                </a:solidFill>
                <a:latin typeface="Space Grotesk" pitchFamily="34" charset="0"/>
                <a:ea typeface="Space Grotesk" pitchFamily="34" charset="-122"/>
                <a:cs typeface="Space Grotesk" pitchFamily="34" charset="-120"/>
              </a:rPr>
              <a:t>1,141</a:t>
            </a:r>
            <a:endParaRPr lang="en-US" sz="3200" dirty="0"/>
          </a:p>
        </p:txBody>
      </p:sp>
      <p:sp>
        <p:nvSpPr>
          <p:cNvPr id="12" name="Text 10"/>
          <p:cNvSpPr/>
          <p:nvPr/>
        </p:nvSpPr>
        <p:spPr>
          <a:xfrm>
            <a:off x="6375400" y="320030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timed caption cues</a:t>
            </a:r>
            <a:endParaRPr lang="en-US" sz="1200" dirty="0"/>
          </a:p>
        </p:txBody>
      </p:sp>
      <p:sp>
        <p:nvSpPr>
          <p:cNvPr id="13" name="Shape 11"/>
          <p:cNvSpPr/>
          <p:nvPr/>
        </p:nvSpPr>
        <p:spPr>
          <a:xfrm>
            <a:off x="8851900" y="2377380"/>
            <a:ext cx="2527300" cy="1239441"/>
          </a:xfrm>
          <a:prstGeom prst="roundRect">
            <a:avLst>
              <a:gd name="adj" fmla="val 8197"/>
            </a:avLst>
          </a:prstGeom>
          <a:solidFill>
            <a:srgbClr val="ECE8DF"/>
          </a:solidFill>
          <a:ln/>
        </p:spPr>
        <p:txBody>
          <a:bodyPr/>
          <a:p/>
        </p:txBody>
      </p:sp>
      <p:sp>
        <p:nvSpPr>
          <p:cNvPr id="14" name="Text 12"/>
          <p:cNvSpPr/>
          <p:nvPr/>
        </p:nvSpPr>
        <p:spPr>
          <a:xfrm>
            <a:off x="9055100" y="2580580"/>
            <a:ext cx="2184527"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5212E"/>
                </a:solidFill>
                <a:latin typeface="Space Grotesk" pitchFamily="34" charset="0"/>
                <a:ea typeface="Space Grotesk" pitchFamily="34" charset="-122"/>
                <a:cs typeface="Space Grotesk" pitchFamily="34" charset="-120"/>
              </a:rPr>
              <a:t>8,733</a:t>
            </a:r>
            <a:endParaRPr lang="en-US" sz="3200" dirty="0"/>
          </a:p>
        </p:txBody>
      </p:sp>
      <p:sp>
        <p:nvSpPr>
          <p:cNvPr id="15" name="Text 13"/>
          <p:cNvSpPr/>
          <p:nvPr/>
        </p:nvSpPr>
        <p:spPr>
          <a:xfrm>
            <a:off x="9055100" y="320030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words, human-captioned</a:t>
            </a:r>
            <a:endParaRPr lang="en-US" sz="1200" dirty="0"/>
          </a:p>
        </p:txBody>
      </p:sp>
      <p:sp>
        <p:nvSpPr>
          <p:cNvPr id="16" name="Text 14"/>
          <p:cNvSpPr/>
          <p:nvPr/>
        </p:nvSpPr>
        <p:spPr>
          <a:xfrm>
            <a:off x="812800" y="3972421"/>
            <a:ext cx="34533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Space Grotesk" pitchFamily="34" charset="0"/>
                <a:ea typeface="Space Grotesk" pitchFamily="34" charset="-122"/>
                <a:cs typeface="Space Grotesk" pitchFamily="34" charset="-120"/>
              </a:rPr>
              <a:t>Distinct, nameable ideas</a:t>
            </a:r>
            <a:endParaRPr lang="en-US" sz="1600" dirty="0"/>
          </a:p>
        </p:txBody>
      </p:sp>
      <p:sp>
        <p:nvSpPr>
          <p:cNvPr id="17" name="Text 15"/>
          <p:cNvSpPr/>
          <p:nvPr/>
        </p:nvSpPr>
        <p:spPr>
          <a:xfrm>
            <a:off x="812800" y="4292451"/>
            <a:ext cx="345338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How to start, time and place, boards, props, slides, job talks, how to stop. Each has its own advice and its own story.</a:t>
            </a:r>
            <a:endParaRPr lang="en-US" sz="1300" dirty="0"/>
          </a:p>
        </p:txBody>
      </p:sp>
      <p:sp>
        <p:nvSpPr>
          <p:cNvPr id="18" name="Text 16"/>
          <p:cNvSpPr/>
          <p:nvPr/>
        </p:nvSpPr>
        <p:spPr>
          <a:xfrm>
            <a:off x="4419600" y="3972421"/>
            <a:ext cx="34533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Space Grotesk" pitchFamily="34" charset="0"/>
                <a:ea typeface="Space Grotesk" pitchFamily="34" charset="-122"/>
                <a:cs typeface="Space Grotesk" pitchFamily="34" charset="-120"/>
              </a:rPr>
              <a:t>Easy to judge</a:t>
            </a:r>
            <a:endParaRPr lang="en-US" sz="1600" dirty="0"/>
          </a:p>
        </p:txBody>
      </p:sp>
      <p:sp>
        <p:nvSpPr>
          <p:cNvPr id="19" name="Text 17"/>
          <p:cNvSpPr/>
          <p:nvPr/>
        </p:nvSpPr>
        <p:spPr>
          <a:xfrm>
            <a:off x="4419600" y="4292451"/>
            <a:ext cx="3453384"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Concrete, checkable answers: 11 AM, seven seconds, "one-shot learning", Hedda Gabler. No specialist knowledge needed to grade them.</a:t>
            </a:r>
            <a:endParaRPr lang="en-US" sz="1300" dirty="0"/>
          </a:p>
        </p:txBody>
      </p:sp>
      <p:sp>
        <p:nvSpPr>
          <p:cNvPr id="20" name="Text 18"/>
          <p:cNvSpPr/>
          <p:nvPr/>
        </p:nvSpPr>
        <p:spPr>
          <a:xfrm>
            <a:off x="8026400" y="3972421"/>
            <a:ext cx="34533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Space Grotesk" pitchFamily="34" charset="0"/>
                <a:ea typeface="Space Grotesk" pitchFamily="34" charset="-122"/>
                <a:cs typeface="Space Grotesk" pitchFamily="34" charset="-120"/>
              </a:rPr>
              <a:t>Ideas come back</a:t>
            </a:r>
            <a:endParaRPr lang="en-US" sz="1600" dirty="0"/>
          </a:p>
        </p:txBody>
      </p:sp>
      <p:sp>
        <p:nvSpPr>
          <p:cNvPr id="21" name="Text 19"/>
          <p:cNvSpPr/>
          <p:nvPr/>
        </p:nvSpPr>
        <p:spPr>
          <a:xfrm>
            <a:off x="8026400" y="4292451"/>
            <a:ext cx="3453384"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Props, the promise and "one language processor" recur across the hour, so the same words show up in the wrong places too.</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8"/>
                </a:solidFill>
                <a:latin typeface="IBM Plex Sans" pitchFamily="34" charset="0"/>
                <a:ea typeface="IBM Plex Sans" pitchFamily="34" charset="-122"/>
                <a:cs typeface="IBM Plex Sans" pitchFamily="34" charset="-120"/>
              </a:rPr>
              <a:t>Not the reference repo's sample (3Blue1Brown, 8 min): an hour-long lecture is where fixed chunking actually struggles.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4461B"/>
                </a:solidFill>
                <a:latin typeface="JetBrains Mono" pitchFamily="49" charset="0"/>
                <a:ea typeface="JetBrains Mono" pitchFamily="49" charset="-122"/>
                <a:cs typeface="JetBrains Mono" pitchFamily="49" charset="-120"/>
              </a:rPr>
              <a:t>READING THE MOMENT SEARCH CODEBASE</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The unit of retrieval is a moment on the timeline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3208635"/>
        </p:xfrm>
        <a:graphic>
          <a:graphicData uri="http://schemas.openxmlformats.org/drawingml/2006/table">
            <a:tbl>
              <a:tblPr/>
              <a:tblGrid>
                <a:gridCol w="3166110"/>
                <a:gridCol w="3693795"/>
                <a:gridCol w="3693795"/>
              </a:tblGrid>
              <a:tr h="359321">
                <a:tc>
                  <a:txBody>
                    <a:bodyPr/>
                    <a:lstStyle/>
                    <a:p>
                      <a:pPr indent="0" marL="0">
                        <a:lnSpc>
                          <a:spcPts val="1820"/>
                        </a:lnSpc>
                        <a:buNone/>
                      </a:pPr>
                      <a:r>
                        <a:rPr lang="en-US" sz="1300" b="1" dirty="0">
                          <a:solidFill>
                            <a:srgbClr val="15212E"/>
                          </a:solidFill>
                          <a:latin typeface="IBM Plex Sans" pitchFamily="34" charset="0"/>
                          <a:ea typeface="IBM Plex Sans" pitchFamily="34" charset="-122"/>
                          <a:cs typeface="IBM Plex Sans" pitchFamily="34" charset="-120"/>
                        </a:rPr>
                        <a:t>Moment Search 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820"/>
                        </a:lnSpc>
                        <a:buNone/>
                      </a:pPr>
                      <a:r>
                        <a:rPr lang="en-US" sz="1300" b="1" dirty="0">
                          <a:solidFill>
                            <a:srgbClr val="15212E"/>
                          </a:solidFill>
                          <a:latin typeface="IBM Plex Sans" pitchFamily="34" charset="0"/>
                          <a:ea typeface="IBM Plex Sans" pitchFamily="34" charset="-122"/>
                          <a:cs typeface="IBM Plex Sans" pitchFamily="34" charset="-120"/>
                        </a:rPr>
                        <a:t>Why it matters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820"/>
                        </a:lnSpc>
                        <a:buNone/>
                      </a:pPr>
                      <a:r>
                        <a:rPr lang="en-US" sz="1300" b="1" dirty="0">
                          <a:solidFill>
                            <a:srgbClr val="15212E"/>
                          </a:solidFill>
                          <a:latin typeface="IBM Plex Sans" pitchFamily="34" charset="0"/>
                          <a:ea typeface="IBM Plex Sans" pitchFamily="34" charset="-122"/>
                          <a:cs typeface="IBM Plex Sans" pitchFamily="34" charset="-120"/>
                        </a:rPr>
                        <a:t>My transcript-only version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59321">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~20s timed transcript chunks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Every hit carries a real t_start/t_end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~20s windows from caption cues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90451">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Frame + transcript branches, always both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No router to get ambiguous questions wrong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Dense + BM25 + moment-card branches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90451">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RRF, then hits within 15s fuse into one moment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Scores on different scales compete fairly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RRF; the moment boundary is the join key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Cross-encoder rerank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RRF is rank-blind; this restores relevance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Rerank every window; best one = anchor 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90451">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Abstain when neither branch is confident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No LLM call, no hallucinated answer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Rerank AND dense weak → abstain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Validated [n]; timestamps from payload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The LLM never invents a 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12E"/>
                          </a:solidFill>
                          <a:latin typeface="IBM Plex Sans" pitchFamily="34" charset="0"/>
                          <a:ea typeface="IBM Plex Sans" pitchFamily="34" charset="-122"/>
                          <a:cs typeface="IBM Plex Sans" pitchFamily="34" charset="-120"/>
                        </a:rPr>
                        <a:t>Same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5" name="Text 2"/>
          <p:cNvSpPr/>
          <p:nvPr/>
        </p:nvSpPr>
        <p:spPr>
          <a:xfrm>
            <a:off x="812800" y="5304086"/>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7"/>
                </a:solidFill>
                <a:latin typeface="IBM Plex Sans" pitchFamily="34" charset="0"/>
                <a:ea typeface="IBM Plex Sans" pitchFamily="34" charset="-122"/>
                <a:cs typeface="IBM Plex Sans" pitchFamily="34" charset="-120"/>
              </a:rPr>
              <a:t>Not carried over: the CLIP frame branch, Prefect queue, Qdrant/Postgres and diarization. This is an in-process study of the retrieval idea on one video.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F6FA8"/>
                </a:solidFill>
                <a:latin typeface="JetBrains Mono" pitchFamily="49" charset="0"/>
                <a:ea typeface="JetBrains Mono" pitchFamily="49" charset="-122"/>
                <a:cs typeface="JetBrains Mono" pitchFamily="49" charset="-120"/>
              </a:rPr>
              <a:t>PART 1 · BASELINE SEMANTIC SEARCH</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The standard pipeline: flatten, cut, embed, search</a:t>
            </a:r>
            <a:endParaRPr lang="en-US" sz="3200" dirty="0"/>
          </a:p>
        </p:txBody>
      </p:sp>
      <p:sp>
        <p:nvSpPr>
          <p:cNvPr id="4" name="Shape 2"/>
          <p:cNvSpPr/>
          <p:nvPr/>
        </p:nvSpPr>
        <p:spPr>
          <a:xfrm>
            <a:off x="819150" y="2043361"/>
            <a:ext cx="1734790" cy="1074341"/>
          </a:xfrm>
          <a:prstGeom prst="roundRect">
            <a:avLst>
              <a:gd name="adj" fmla="val 7684"/>
            </a:avLst>
          </a:prstGeom>
          <a:solidFill>
            <a:srgbClr val="E3EAF3"/>
          </a:solidFill>
          <a:ln w="12700">
            <a:solidFill>
              <a:srgbClr val="7F9CC0"/>
            </a:solidFill>
            <a:prstDash val="solid"/>
          </a:ln>
        </p:spPr>
        <p:txBody>
          <a:bodyPr/>
          <a:p/>
        </p:txBody>
      </p:sp>
      <p:sp>
        <p:nvSpPr>
          <p:cNvPr id="5" name="Text 3"/>
          <p:cNvSpPr/>
          <p:nvPr/>
        </p:nvSpPr>
        <p:spPr>
          <a:xfrm>
            <a:off x="1003300" y="2227511"/>
            <a:ext cx="14172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Space Grotesk" pitchFamily="34" charset="0"/>
                <a:ea typeface="Space Grotesk" pitchFamily="34" charset="-122"/>
                <a:cs typeface="Space Grotesk" pitchFamily="34" charset="-120"/>
              </a:rPr>
              <a:t>Flatten</a:t>
            </a:r>
            <a:endParaRPr lang="en-US" sz="1500" dirty="0"/>
          </a:p>
        </p:txBody>
      </p:sp>
      <p:sp>
        <p:nvSpPr>
          <p:cNvPr id="6" name="Text 4"/>
          <p:cNvSpPr/>
          <p:nvPr/>
        </p:nvSpPr>
        <p:spPr>
          <a:xfrm>
            <a:off x="1003300" y="2506911"/>
            <a:ext cx="14172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1,141 cues → one string</a:t>
            </a:r>
            <a:endParaRPr lang="en-US" sz="1200" dirty="0"/>
          </a:p>
        </p:txBody>
      </p:sp>
      <p:pic>
        <p:nvPicPr>
          <p:cNvPr id="7" name="Image 0" descr="arrow-right">    </p:cNvPr>
          <p:cNvPicPr>
            <a:picLocks noChangeAspect="1"/>
          </p:cNvPicPr>
          <p:nvPr/>
        </p:nvPicPr>
        <p:blipFill>
          <a:blip r:embed="rId1"/>
          <a:srcRect l="0" r="0" t="0" b="0"/>
          <a:stretch/>
        </p:blipFill>
        <p:spPr>
          <a:xfrm>
            <a:off x="2661890" y="2504331"/>
            <a:ext cx="254000" cy="152400"/>
          </a:xfrm>
          <a:prstGeom prst="rect">
            <a:avLst/>
          </a:prstGeom>
        </p:spPr>
      </p:pic>
      <p:sp>
        <p:nvSpPr>
          <p:cNvPr id="8" name="Shape 5"/>
          <p:cNvSpPr/>
          <p:nvPr/>
        </p:nvSpPr>
        <p:spPr>
          <a:xfrm>
            <a:off x="3023840" y="1936700"/>
            <a:ext cx="1734840" cy="1287661"/>
          </a:xfrm>
          <a:prstGeom prst="roundRect">
            <a:avLst>
              <a:gd name="adj" fmla="val 6411"/>
            </a:avLst>
          </a:prstGeom>
          <a:solidFill>
            <a:srgbClr val="E3EAF3"/>
          </a:solidFill>
          <a:ln w="12700">
            <a:solidFill>
              <a:srgbClr val="7F9CC0"/>
            </a:solidFill>
            <a:prstDash val="solid"/>
          </a:ln>
        </p:spPr>
        <p:txBody>
          <a:bodyPr/>
          <a:p/>
        </p:txBody>
      </p:sp>
      <p:sp>
        <p:nvSpPr>
          <p:cNvPr id="9" name="Text 6"/>
          <p:cNvSpPr/>
          <p:nvPr/>
        </p:nvSpPr>
        <p:spPr>
          <a:xfrm>
            <a:off x="3207990" y="2120850"/>
            <a:ext cx="14173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Space Grotesk" pitchFamily="34" charset="0"/>
                <a:ea typeface="Space Grotesk" pitchFamily="34" charset="-122"/>
                <a:cs typeface="Space Grotesk" pitchFamily="34" charset="-120"/>
              </a:rPr>
              <a:t>Chunk</a:t>
            </a:r>
            <a:endParaRPr lang="en-US" sz="1500" dirty="0"/>
          </a:p>
        </p:txBody>
      </p:sp>
      <p:sp>
        <p:nvSpPr>
          <p:cNvPr id="10" name="Text 7"/>
          <p:cNvSpPr/>
          <p:nvPr/>
        </p:nvSpPr>
        <p:spPr>
          <a:xfrm>
            <a:off x="3207990" y="2400250"/>
            <a:ext cx="14173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200 words, 40 overlap → 55 chunks</a:t>
            </a:r>
            <a:endParaRPr lang="en-US" sz="1200" dirty="0"/>
          </a:p>
        </p:txBody>
      </p:sp>
      <p:pic>
        <p:nvPicPr>
          <p:cNvPr id="11" name="Image 1" descr="arrow-right">    </p:cNvPr>
          <p:cNvPicPr>
            <a:picLocks noChangeAspect="1"/>
          </p:cNvPicPr>
          <p:nvPr/>
        </p:nvPicPr>
        <p:blipFill>
          <a:blip r:embed="rId2"/>
          <a:srcRect l="0" r="0" t="0" b="0"/>
          <a:stretch/>
        </p:blipFill>
        <p:spPr>
          <a:xfrm>
            <a:off x="4866630" y="2504331"/>
            <a:ext cx="254000" cy="152400"/>
          </a:xfrm>
          <a:prstGeom prst="rect">
            <a:avLst/>
          </a:prstGeom>
        </p:spPr>
      </p:pic>
      <p:sp>
        <p:nvSpPr>
          <p:cNvPr id="12" name="Shape 8"/>
          <p:cNvSpPr/>
          <p:nvPr/>
        </p:nvSpPr>
        <p:spPr>
          <a:xfrm>
            <a:off x="5228580" y="2043361"/>
            <a:ext cx="1734790" cy="1074341"/>
          </a:xfrm>
          <a:prstGeom prst="roundRect">
            <a:avLst>
              <a:gd name="adj" fmla="val 7684"/>
            </a:avLst>
          </a:prstGeom>
          <a:solidFill>
            <a:srgbClr val="E3EAF3"/>
          </a:solidFill>
          <a:ln w="12700">
            <a:solidFill>
              <a:srgbClr val="7F9CC0"/>
            </a:solidFill>
            <a:prstDash val="solid"/>
          </a:ln>
        </p:spPr>
        <p:txBody>
          <a:bodyPr/>
          <a:p/>
        </p:txBody>
      </p:sp>
      <p:sp>
        <p:nvSpPr>
          <p:cNvPr id="13" name="Text 9"/>
          <p:cNvSpPr/>
          <p:nvPr/>
        </p:nvSpPr>
        <p:spPr>
          <a:xfrm>
            <a:off x="5412730" y="2227511"/>
            <a:ext cx="14172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Space Grotesk" pitchFamily="34" charset="0"/>
                <a:ea typeface="Space Grotesk" pitchFamily="34" charset="-122"/>
                <a:cs typeface="Space Grotesk" pitchFamily="34" charset="-120"/>
              </a:rPr>
              <a:t>Embed</a:t>
            </a:r>
            <a:endParaRPr lang="en-US" sz="1500" dirty="0"/>
          </a:p>
        </p:txBody>
      </p:sp>
      <p:sp>
        <p:nvSpPr>
          <p:cNvPr id="14" name="Text 10"/>
          <p:cNvSpPr/>
          <p:nvPr/>
        </p:nvSpPr>
        <p:spPr>
          <a:xfrm>
            <a:off x="5412730" y="2506911"/>
            <a:ext cx="14172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bge-small-en-v1.5, 384-d</a:t>
            </a:r>
            <a:endParaRPr lang="en-US" sz="1200" dirty="0"/>
          </a:p>
        </p:txBody>
      </p:sp>
      <p:pic>
        <p:nvPicPr>
          <p:cNvPr id="15" name="Image 2" descr="arrow-right">    </p:cNvPr>
          <p:cNvPicPr>
            <a:picLocks noChangeAspect="1"/>
          </p:cNvPicPr>
          <p:nvPr/>
        </p:nvPicPr>
        <p:blipFill>
          <a:blip r:embed="rId3"/>
          <a:srcRect l="0" r="0" t="0" b="0"/>
          <a:stretch/>
        </p:blipFill>
        <p:spPr>
          <a:xfrm>
            <a:off x="7071320" y="2504331"/>
            <a:ext cx="254000" cy="152400"/>
          </a:xfrm>
          <a:prstGeom prst="rect">
            <a:avLst/>
          </a:prstGeom>
        </p:spPr>
      </p:pic>
      <p:sp>
        <p:nvSpPr>
          <p:cNvPr id="16" name="Shape 11"/>
          <p:cNvSpPr/>
          <p:nvPr/>
        </p:nvSpPr>
        <p:spPr>
          <a:xfrm>
            <a:off x="7433270" y="2043361"/>
            <a:ext cx="1734840" cy="1074341"/>
          </a:xfrm>
          <a:prstGeom prst="roundRect">
            <a:avLst>
              <a:gd name="adj" fmla="val 7684"/>
            </a:avLst>
          </a:prstGeom>
          <a:solidFill>
            <a:srgbClr val="E3EAF3"/>
          </a:solidFill>
          <a:ln w="12700">
            <a:solidFill>
              <a:srgbClr val="7F9CC0"/>
            </a:solidFill>
            <a:prstDash val="solid"/>
          </a:ln>
        </p:spPr>
        <p:txBody>
          <a:bodyPr/>
          <a:p/>
        </p:txBody>
      </p:sp>
      <p:sp>
        <p:nvSpPr>
          <p:cNvPr id="17" name="Text 12"/>
          <p:cNvSpPr/>
          <p:nvPr/>
        </p:nvSpPr>
        <p:spPr>
          <a:xfrm>
            <a:off x="7617420" y="2227511"/>
            <a:ext cx="14173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Space Grotesk" pitchFamily="34" charset="0"/>
                <a:ea typeface="Space Grotesk" pitchFamily="34" charset="-122"/>
                <a:cs typeface="Space Grotesk" pitchFamily="34" charset="-120"/>
              </a:rPr>
              <a:t>Index</a:t>
            </a:r>
            <a:endParaRPr lang="en-US" sz="1500" dirty="0"/>
          </a:p>
        </p:txBody>
      </p:sp>
      <p:sp>
        <p:nvSpPr>
          <p:cNvPr id="18" name="Text 13"/>
          <p:cNvSpPr/>
          <p:nvPr/>
        </p:nvSpPr>
        <p:spPr>
          <a:xfrm>
            <a:off x="7617420" y="2506911"/>
            <a:ext cx="14173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FAISS inner product (cosine)</a:t>
            </a:r>
            <a:endParaRPr lang="en-US" sz="1200" dirty="0"/>
          </a:p>
        </p:txBody>
      </p:sp>
      <p:pic>
        <p:nvPicPr>
          <p:cNvPr id="19" name="Image 3" descr="arrow-right">    </p:cNvPr>
          <p:cNvPicPr>
            <a:picLocks noChangeAspect="1"/>
          </p:cNvPicPr>
          <p:nvPr/>
        </p:nvPicPr>
        <p:blipFill>
          <a:blip r:embed="rId4"/>
          <a:srcRect l="0" r="0" t="0" b="0"/>
          <a:stretch/>
        </p:blipFill>
        <p:spPr>
          <a:xfrm>
            <a:off x="9276060" y="2504331"/>
            <a:ext cx="254000" cy="152400"/>
          </a:xfrm>
          <a:prstGeom prst="rect">
            <a:avLst/>
          </a:prstGeom>
        </p:spPr>
      </p:pic>
      <p:sp>
        <p:nvSpPr>
          <p:cNvPr id="20" name="Shape 14"/>
          <p:cNvSpPr/>
          <p:nvPr/>
        </p:nvSpPr>
        <p:spPr>
          <a:xfrm>
            <a:off x="9638010" y="2043361"/>
            <a:ext cx="1734840" cy="1074341"/>
          </a:xfrm>
          <a:prstGeom prst="roundRect">
            <a:avLst>
              <a:gd name="adj" fmla="val 7684"/>
            </a:avLst>
          </a:prstGeom>
          <a:solidFill>
            <a:srgbClr val="E3EAF3"/>
          </a:solidFill>
          <a:ln w="12700">
            <a:solidFill>
              <a:srgbClr val="7F9CC0"/>
            </a:solidFill>
            <a:prstDash val="solid"/>
          </a:ln>
        </p:spPr>
        <p:txBody>
          <a:bodyPr/>
          <a:p/>
        </p:txBody>
      </p:sp>
      <p:sp>
        <p:nvSpPr>
          <p:cNvPr id="21" name="Text 15"/>
          <p:cNvSpPr/>
          <p:nvPr/>
        </p:nvSpPr>
        <p:spPr>
          <a:xfrm>
            <a:off x="9822160" y="2227511"/>
            <a:ext cx="14173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Space Grotesk" pitchFamily="34" charset="0"/>
                <a:ea typeface="Space Grotesk" pitchFamily="34" charset="-122"/>
                <a:cs typeface="Space Grotesk" pitchFamily="34" charset="-120"/>
              </a:rPr>
              <a:t>Answer</a:t>
            </a:r>
            <a:endParaRPr lang="en-US" sz="1500" dirty="0"/>
          </a:p>
        </p:txBody>
      </p:sp>
      <p:sp>
        <p:nvSpPr>
          <p:cNvPr id="22" name="Text 16"/>
          <p:cNvSpPr/>
          <p:nvPr/>
        </p:nvSpPr>
        <p:spPr>
          <a:xfrm>
            <a:off x="9822160" y="2506911"/>
            <a:ext cx="14173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top-3 chunks → LLM, cite [n]</a:t>
            </a:r>
            <a:endParaRPr lang="en-US" sz="1200" dirty="0"/>
          </a:p>
        </p:txBody>
      </p:sp>
      <p:sp>
        <p:nvSpPr>
          <p:cNvPr id="23" name="Text 17"/>
          <p:cNvSpPr/>
          <p:nvPr/>
        </p:nvSpPr>
        <p:spPr>
          <a:xfrm>
            <a:off x="812800" y="3586311"/>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Space Grotesk" pitchFamily="34" charset="0"/>
                <a:ea typeface="Space Grotesk" pitchFamily="34" charset="-122"/>
                <a:cs typeface="Space Grotesk" pitchFamily="34" charset="-120"/>
              </a:rPr>
              <a:t>Held constant for a fair test</a:t>
            </a:r>
            <a:endParaRPr lang="en-US" sz="1600" dirty="0"/>
          </a:p>
        </p:txBody>
      </p:sp>
      <p:sp>
        <p:nvSpPr>
          <p:cNvPr id="24" name="Text 18"/>
          <p:cNvSpPr/>
          <p:nvPr/>
        </p:nvSpPr>
        <p:spPr>
          <a:xfrm>
            <a:off x="812800" y="3906341"/>
            <a:ext cx="528472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The same embedder, the same LLM (gpt-5.6-luna) and the same grounding and citation rules as Moment RAG. Only structure and retrieval differ.</a:t>
            </a:r>
            <a:endParaRPr lang="en-US" sz="1300" dirty="0"/>
          </a:p>
        </p:txBody>
      </p:sp>
      <p:sp>
        <p:nvSpPr>
          <p:cNvPr id="25" name="Text 19"/>
          <p:cNvSpPr/>
          <p:nvPr/>
        </p:nvSpPr>
        <p:spPr>
          <a:xfrm>
            <a:off x="6248400" y="3586311"/>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Space Grotesk" pitchFamily="34" charset="0"/>
                <a:ea typeface="Space Grotesk" pitchFamily="34" charset="-122"/>
                <a:cs typeface="Space Grotesk" pitchFamily="34" charset="-120"/>
              </a:rPr>
              <a:t>What it gives up</a:t>
            </a:r>
            <a:endParaRPr lang="en-US" sz="1600" dirty="0"/>
          </a:p>
        </p:txBody>
      </p:sp>
      <p:sp>
        <p:nvSpPr>
          <p:cNvPr id="26" name="Text 20"/>
          <p:cNvSpPr/>
          <p:nvPr/>
        </p:nvSpPr>
        <p:spPr>
          <a:xfrm>
            <a:off x="6248400" y="3906341"/>
            <a:ext cx="5284724"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Chunk edges fall wherever the word count says, and the answer can't say where in the video it came from.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F6FA8"/>
                </a:solidFill>
                <a:latin typeface="JetBrains Mono" pitchFamily="49" charset="0"/>
                <a:ea typeface="JetBrains Mono" pitchFamily="49" charset="-122"/>
                <a:cs typeface="JetBrains Mono" pitchFamily="49" charset="-120"/>
              </a:rPr>
              <a:t>WHERE FIXED CHUNKS BREAK</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The right chunk exists, but it ranks 9th</a:t>
            </a:r>
            <a:endParaRPr lang="en-US" sz="3200" dirty="0"/>
          </a:p>
        </p:txBody>
      </p:sp>
      <p:sp>
        <p:nvSpPr>
          <p:cNvPr id="4" name="Shape 2"/>
          <p:cNvSpPr/>
          <p:nvPr/>
        </p:nvSpPr>
        <p:spPr>
          <a:xfrm>
            <a:off x="819150" y="1885900"/>
            <a:ext cx="6388100" cy="2831902"/>
          </a:xfrm>
          <a:prstGeom prst="roundRect">
            <a:avLst>
              <a:gd name="adj" fmla="val 3363"/>
            </a:avLst>
          </a:prstGeom>
          <a:solidFill>
            <a:srgbClr val="FFFFFF"/>
          </a:solidFill>
          <a:ln w="12700">
            <a:solidFill>
              <a:srgbClr val="D8D2C4"/>
            </a:solidFill>
            <a:prstDash val="solid"/>
          </a:ln>
        </p:spPr>
        <p:txBody>
          <a:bodyPr/>
          <a:p/>
        </p:txBody>
      </p:sp>
      <p:sp>
        <p:nvSpPr>
          <p:cNvPr id="5" name="Text 3"/>
          <p:cNvSpPr/>
          <p:nvPr/>
        </p:nvSpPr>
        <p:spPr>
          <a:xfrm>
            <a:off x="1079500" y="2146250"/>
            <a:ext cx="604342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8"/>
                </a:solidFill>
                <a:latin typeface="JetBrains Mono" pitchFamily="49" charset="0"/>
                <a:ea typeface="JetBrains Mono" pitchFamily="49" charset="-122"/>
                <a:cs typeface="JetBrains Mono" pitchFamily="49" charset="-120"/>
              </a:rPr>
              <a:t>Q: According to his formula, what determines the quality of your communication?</a:t>
            </a:r>
            <a:endParaRPr lang="en-US" sz="1200" dirty="0"/>
          </a:p>
        </p:txBody>
      </p:sp>
      <p:sp>
        <p:nvSpPr>
          <p:cNvPr id="6" name="Text 4"/>
          <p:cNvSpPr/>
          <p:nvPr/>
        </p:nvSpPr>
        <p:spPr>
          <a:xfrm>
            <a:off x="1079500" y="2699891"/>
            <a:ext cx="6043422"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D4A57"/>
                </a:solidFill>
                <a:latin typeface="IBM Plex Sans" pitchFamily="34" charset="0"/>
                <a:ea typeface="IBM Plex Sans" pitchFamily="34" charset="-122"/>
                <a:cs typeface="IBM Plex Sans" pitchFamily="34" charset="-120"/>
              </a:rPr>
              <a:t>Chunk 00:19–01:46: "The Uniform Code of Military Justice specifies court martial … </a:t>
            </a:r>
            <a:r>
              <a:rPr lang="en-US" sz="1300" b="1" dirty="0">
                <a:solidFill>
                  <a:srgbClr val="15212E"/>
                </a:solidFill>
                <a:latin typeface="IBM Plex Sans" pitchFamily="34" charset="0"/>
                <a:ea typeface="IBM Plex Sans" pitchFamily="34" charset="-122"/>
                <a:cs typeface="IBM Plex Sans" pitchFamily="34" charset="-120"/>
              </a:rPr>
              <a:t>It's a matter of how much knowledge you have, how much you practice with that knowledge, and your inherent talent</a:t>
            </a:r>
            <a:r>
              <a:rPr lang="en-US" sz="1300" dirty="0">
                <a:solidFill>
                  <a:srgbClr val="3D4A57"/>
                </a:solidFill>
                <a:latin typeface="IBM Plex Sans" pitchFamily="34" charset="0"/>
                <a:ea typeface="IBM Plex Sans" pitchFamily="34" charset="-122"/>
                <a:cs typeface="IBM Plex Sans" pitchFamily="34" charset="-120"/>
              </a:rPr>
              <a:t> … I was skiing at Sun Valley … Mary Lou Retton…"</a:t>
            </a:r>
            <a:endParaRPr lang="en-US" sz="1300" dirty="0"/>
          </a:p>
        </p:txBody>
      </p:sp>
      <p:sp>
        <p:nvSpPr>
          <p:cNvPr id="7" name="Text 5"/>
          <p:cNvSpPr/>
          <p:nvPr/>
        </p:nvSpPr>
        <p:spPr>
          <a:xfrm>
            <a:off x="1079500" y="3817491"/>
            <a:ext cx="604342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8"/>
                </a:solidFill>
                <a:latin typeface="IBM Plex Sans" pitchFamily="34" charset="0"/>
                <a:ea typeface="IBM Plex Sans" pitchFamily="34" charset="-122"/>
                <a:cs typeface="IBM Plex Sans" pitchFamily="34" charset="-120"/>
              </a:rPr>
              <a:t>Three topics in 200 words, so the embedding averages them. Cosine 0.549, ranked 9 of 55 (top hit: 0.578).</a:t>
            </a:r>
            <a:endParaRPr lang="en-US" sz="1200" dirty="0"/>
          </a:p>
        </p:txBody>
      </p:sp>
      <p:sp>
        <p:nvSpPr>
          <p:cNvPr id="8" name="Shape 6"/>
          <p:cNvSpPr/>
          <p:nvPr/>
        </p:nvSpPr>
        <p:spPr>
          <a:xfrm>
            <a:off x="7467600" y="1879550"/>
            <a:ext cx="3911600" cy="1452761"/>
          </a:xfrm>
          <a:prstGeom prst="roundRect">
            <a:avLst>
              <a:gd name="adj" fmla="val 6994"/>
            </a:avLst>
          </a:prstGeom>
          <a:solidFill>
            <a:srgbClr val="E3EAF3"/>
          </a:solidFill>
          <a:ln/>
        </p:spPr>
        <p:txBody>
          <a:bodyPr/>
          <a:p/>
        </p:txBody>
      </p:sp>
      <p:sp>
        <p:nvSpPr>
          <p:cNvPr id="9" name="Text 7"/>
          <p:cNvSpPr/>
          <p:nvPr/>
        </p:nvSpPr>
        <p:spPr>
          <a:xfrm>
            <a:off x="7670800" y="2082750"/>
            <a:ext cx="3610356"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5212E"/>
                </a:solidFill>
                <a:latin typeface="Space Grotesk" pitchFamily="34" charset="0"/>
                <a:ea typeface="Space Grotesk" pitchFamily="34" charset="-122"/>
                <a:cs typeface="Space Grotesk" pitchFamily="34" charset="-120"/>
              </a:rPr>
              <a:t>rank 9</a:t>
            </a:r>
            <a:endParaRPr lang="en-US" sz="3200" dirty="0"/>
          </a:p>
        </p:txBody>
      </p:sp>
      <p:sp>
        <p:nvSpPr>
          <p:cNvPr id="10" name="Text 8"/>
          <p:cNvSpPr/>
          <p:nvPr/>
        </p:nvSpPr>
        <p:spPr>
          <a:xfrm>
            <a:off x="7670800" y="2702471"/>
            <a:ext cx="36103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K·P·T formula: top-3 misses it, so the LLM says it "couldn't find the formula"</a:t>
            </a:r>
            <a:endParaRPr lang="en-US" sz="1200" dirty="0"/>
          </a:p>
        </p:txBody>
      </p:sp>
      <p:sp>
        <p:nvSpPr>
          <p:cNvPr id="11" name="Shape 9"/>
          <p:cNvSpPr/>
          <p:nvPr/>
        </p:nvSpPr>
        <p:spPr>
          <a:xfrm>
            <a:off x="7467600" y="3484711"/>
            <a:ext cx="3911600" cy="1239441"/>
          </a:xfrm>
          <a:prstGeom prst="roundRect">
            <a:avLst>
              <a:gd name="adj" fmla="val 8197"/>
            </a:avLst>
          </a:prstGeom>
          <a:solidFill>
            <a:srgbClr val="E3EAF3"/>
          </a:solidFill>
          <a:ln/>
        </p:spPr>
        <p:txBody>
          <a:bodyPr/>
          <a:p/>
        </p:txBody>
      </p:sp>
      <p:sp>
        <p:nvSpPr>
          <p:cNvPr id="12" name="Text 10"/>
          <p:cNvSpPr/>
          <p:nvPr/>
        </p:nvSpPr>
        <p:spPr>
          <a:xfrm>
            <a:off x="7670800" y="3687911"/>
            <a:ext cx="3610356"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5212E"/>
                </a:solidFill>
                <a:latin typeface="Space Grotesk" pitchFamily="34" charset="0"/>
                <a:ea typeface="Space Grotesk" pitchFamily="34" charset="-122"/>
                <a:cs typeface="Space Grotesk" pitchFamily="34" charset="-120"/>
              </a:rPr>
              <a:t>rank 4</a:t>
            </a:r>
            <a:endParaRPr lang="en-US" sz="3200" dirty="0"/>
          </a:p>
        </p:txBody>
      </p:sp>
      <p:sp>
        <p:nvSpPr>
          <p:cNvPr id="13" name="Text 11"/>
          <p:cNvSpPr/>
          <p:nvPr/>
        </p:nvSpPr>
        <p:spPr>
          <a:xfrm>
            <a:off x="7670800" y="4307632"/>
            <a:ext cx="36103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"Where does he get into job talks?": same failure</a:t>
            </a:r>
            <a:endParaRPr lang="en-US" sz="1200" dirty="0"/>
          </a:p>
        </p:txBody>
      </p:sp>
      <p:sp>
        <p:nvSpPr>
          <p:cNvPr id="14" name="Text 12"/>
          <p:cNvSpPr/>
          <p:nvPr/>
        </p:nvSpPr>
        <p:spPr>
          <a:xfrm>
            <a:off x="812800" y="5028952"/>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7"/>
                </a:solidFill>
                <a:latin typeface="IBM Plex Sans" pitchFamily="34" charset="0"/>
                <a:ea typeface="IBM Plex Sans" pitchFamily="34" charset="-122"/>
                <a:cs typeface="IBM Plex Sans" pitchFamily="34" charset="-120"/>
              </a:rPr>
              <a:t>Dilution, not missing text: an arbitrary word-count edge mixes topics, blurs the embedding and drops the timestamp.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4461B"/>
                </a:solidFill>
                <a:latin typeface="JetBrains Mono" pitchFamily="49" charset="0"/>
                <a:ea typeface="JetBrains Mono" pitchFamily="49" charset="-122"/>
                <a:cs typeface="JetBrains Mono" pitchFamily="49" charset="-120"/>
              </a:rPr>
              <a:t>PART 2 · FINDING THE MOMENTS</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Cut where the topic changes, not where the word count runs out</a:t>
            </a:r>
            <a:endParaRPr lang="en-US" sz="3200" dirty="0"/>
          </a:p>
        </p:txBody>
      </p:sp>
      <p:sp>
        <p:nvSpPr>
          <p:cNvPr id="4" name="Text 2"/>
          <p:cNvSpPr/>
          <p:nvPr/>
        </p:nvSpPr>
        <p:spPr>
          <a:xfrm>
            <a:off x="812800" y="22503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12E"/>
                </a:solidFill>
                <a:latin typeface="IBM Plex Sans" pitchFamily="34" charset="0"/>
                <a:ea typeface="IBM Plex Sans" pitchFamily="34" charset="-122"/>
                <a:cs typeface="IBM Plex Sans" pitchFamily="34" charset="-120"/>
              </a:rPr>
              <a:t>Baseline:</a:t>
            </a:r>
            <a:r>
              <a:rPr lang="en-US" sz="1200" dirty="0">
                <a:solidFill>
                  <a:srgbClr val="3D4A57"/>
                </a:solidFill>
                <a:latin typeface="IBM Plex Sans" pitchFamily="34" charset="0"/>
                <a:ea typeface="IBM Plex Sans" pitchFamily="34" charset="-122"/>
                <a:cs typeface="IBM Plex Sans" pitchFamily="34" charset="-120"/>
              </a:rPr>
              <a:t> 55 chunks, every edge set by word count</a:t>
            </a:r>
            <a:endParaRPr lang="en-US" sz="1200" dirty="0"/>
          </a:p>
        </p:txBody>
      </p:sp>
      <p:pic>
        <p:nvPicPr>
          <p:cNvPr id="5" name="Image 0" descr="55 evenly spaced baseline chunks across the 64-minute timeline">    </p:cNvPr>
          <p:cNvPicPr>
            <a:picLocks noChangeAspect="1"/>
          </p:cNvPicPr>
          <p:nvPr/>
        </p:nvPicPr>
        <p:blipFill>
          <a:blip r:embed="rId1"/>
          <a:srcRect l="0" r="0" t="-65" b="-65"/>
          <a:stretch/>
        </p:blipFill>
        <p:spPr>
          <a:xfrm>
            <a:off x="812800" y="2527201"/>
            <a:ext cx="10566400" cy="304800"/>
          </a:xfrm>
          <a:prstGeom prst="rect">
            <a:avLst/>
          </a:prstGeom>
        </p:spPr>
      </p:pic>
      <p:sp>
        <p:nvSpPr>
          <p:cNvPr id="6" name="Text 3"/>
          <p:cNvSpPr/>
          <p:nvPr/>
        </p:nvSpPr>
        <p:spPr>
          <a:xfrm>
            <a:off x="812800" y="306060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12E"/>
                </a:solidFill>
                <a:latin typeface="IBM Plex Sans" pitchFamily="34" charset="0"/>
                <a:ea typeface="IBM Plex Sans" pitchFamily="34" charset="-122"/>
                <a:cs typeface="IBM Plex Sans" pitchFamily="34" charset="-120"/>
              </a:rPr>
              <a:t>Chapters:</a:t>
            </a:r>
            <a:r>
              <a:rPr lang="en-US" sz="1200" dirty="0">
                <a:solidFill>
                  <a:srgbClr val="3D4A57"/>
                </a:solidFill>
                <a:latin typeface="IBM Plex Sans" pitchFamily="34" charset="0"/>
                <a:ea typeface="IBM Plex Sans" pitchFamily="34" charset="-122"/>
                <a:cs typeface="IBM Plex Sans" pitchFamily="34" charset="-120"/>
              </a:rPr>
              <a:t> 11 uploader markers, 16s to 23 min, used as hard cuts</a:t>
            </a:r>
            <a:endParaRPr lang="en-US" sz="1200" dirty="0"/>
          </a:p>
        </p:txBody>
      </p:sp>
      <p:pic>
        <p:nvPicPr>
          <p:cNvPr id="7" name="Image 1" descr="11 chapters, one of them 23 minutes long">    </p:cNvPr>
          <p:cNvPicPr>
            <a:picLocks noChangeAspect="1"/>
          </p:cNvPicPr>
          <p:nvPr/>
        </p:nvPicPr>
        <p:blipFill>
          <a:blip r:embed="rId2"/>
          <a:srcRect l="0" r="0" t="-65" b="-65"/>
          <a:stretch/>
        </p:blipFill>
        <p:spPr>
          <a:xfrm>
            <a:off x="812800" y="3337421"/>
            <a:ext cx="10566400" cy="304800"/>
          </a:xfrm>
          <a:prstGeom prst="rect">
            <a:avLst/>
          </a:prstGeom>
        </p:spPr>
      </p:pic>
      <p:sp>
        <p:nvSpPr>
          <p:cNvPr id="8" name="Text 4"/>
          <p:cNvSpPr/>
          <p:nvPr/>
        </p:nvSpPr>
        <p:spPr>
          <a:xfrm>
            <a:off x="812800" y="387082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461B"/>
                </a:solidFill>
                <a:latin typeface="IBM Plex Sans" pitchFamily="34" charset="0"/>
                <a:ea typeface="IBM Plex Sans" pitchFamily="34" charset="-122"/>
                <a:cs typeface="IBM Plex Sans" pitchFamily="34" charset="-120"/>
              </a:rPr>
              <a:t>Moments:</a:t>
            </a:r>
            <a:r>
              <a:rPr lang="en-US" sz="1200" dirty="0">
                <a:solidFill>
                  <a:srgbClr val="3D4A57"/>
                </a:solidFill>
                <a:latin typeface="IBM Plex Sans" pitchFamily="34" charset="0"/>
                <a:ea typeface="IBM Plex Sans" pitchFamily="34" charset="-122"/>
                <a:cs typeface="IBM Plex Sans" pitchFamily="34" charset="-120"/>
              </a:rPr>
              <a:t> 49 segments, 48–145s (median 72s), each about one thing</a:t>
            </a:r>
            <a:endParaRPr lang="en-US" sz="1200" dirty="0"/>
          </a:p>
        </p:txBody>
      </p:sp>
      <p:pic>
        <p:nvPicPr>
          <p:cNvPr id="9" name="Image 2" descr="49 moments that follow chapter edges and split the long chapter into 17 topics">    </p:cNvPr>
          <p:cNvPicPr>
            <a:picLocks noChangeAspect="1"/>
          </p:cNvPicPr>
          <p:nvPr/>
        </p:nvPicPr>
        <p:blipFill>
          <a:blip r:embed="rId3"/>
          <a:srcRect l="0" r="0" t="-65" b="-65"/>
          <a:stretch/>
        </p:blipFill>
        <p:spPr>
          <a:xfrm>
            <a:off x="812800" y="4147641"/>
            <a:ext cx="10566400" cy="304800"/>
          </a:xfrm>
          <a:prstGeom prst="rect">
            <a:avLst/>
          </a:prstGeom>
        </p:spPr>
      </p:pic>
      <p:sp>
        <p:nvSpPr>
          <p:cNvPr id="10" name="Text 5"/>
          <p:cNvSpPr/>
          <p:nvPr/>
        </p:nvSpPr>
        <p:spPr>
          <a:xfrm>
            <a:off x="812800" y="4681041"/>
            <a:ext cx="3453384" cy="68828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212E"/>
                </a:solidFill>
                <a:latin typeface="IBM Plex Sans" pitchFamily="34" charset="0"/>
                <a:ea typeface="IBM Plex Sans" pitchFamily="34" charset="-122"/>
                <a:cs typeface="IBM Plex Sans" pitchFamily="34" charset="-120"/>
              </a:rPr>
              <a:t>1 · Windows.</a:t>
            </a:r>
            <a:r>
              <a:rPr lang="en-US" sz="1200" dirty="0">
                <a:solidFill>
                  <a:srgbClr val="3D4A57"/>
                </a:solidFill>
                <a:latin typeface="IBM Plex Sans" pitchFamily="34" charset="0"/>
                <a:ea typeface="IBM Plex Sans" pitchFamily="34" charset="-122"/>
                <a:cs typeface="IBM Plex Sans" pitchFamily="34" charset="-120"/>
              </a:rPr>
              <a:t> Group caption cues into ~20s windows (200), each with real start and end times.</a:t>
            </a:r>
            <a:endParaRPr lang="en-US" sz="1200" dirty="0"/>
          </a:p>
        </p:txBody>
      </p:sp>
      <p:sp>
        <p:nvSpPr>
          <p:cNvPr id="11" name="Text 6"/>
          <p:cNvSpPr/>
          <p:nvPr/>
        </p:nvSpPr>
        <p:spPr>
          <a:xfrm>
            <a:off x="4419600" y="4681041"/>
            <a:ext cx="3453384" cy="68828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212E"/>
                </a:solidFill>
                <a:latin typeface="IBM Plex Sans" pitchFamily="34" charset="0"/>
                <a:ea typeface="IBM Plex Sans" pitchFamily="34" charset="-122"/>
                <a:cs typeface="IBM Plex Sans" pitchFamily="34" charset="-120"/>
              </a:rPr>
              <a:t>2 · TextTiling.</a:t>
            </a:r>
            <a:r>
              <a:rPr lang="en-US" sz="1200" dirty="0">
                <a:solidFill>
                  <a:srgbClr val="3D4A57"/>
                </a:solidFill>
                <a:latin typeface="IBM Plex Sans" pitchFamily="34" charset="0"/>
                <a:ea typeface="IBM Plex Sans" pitchFamily="34" charset="-122"/>
                <a:cs typeface="IBM Plex Sans" pitchFamily="34" charset="-120"/>
              </a:rPr>
              <a:t> Compare 60s of embeddings on each side of every gap; cut at deep similarity dips. Moments stay roughly 40–150s.</a:t>
            </a:r>
            <a:endParaRPr lang="en-US" sz="1200" dirty="0"/>
          </a:p>
        </p:txBody>
      </p:sp>
      <p:sp>
        <p:nvSpPr>
          <p:cNvPr id="12" name="Text 7"/>
          <p:cNvSpPr/>
          <p:nvPr/>
        </p:nvSpPr>
        <p:spPr>
          <a:xfrm>
            <a:off x="8026400" y="4681041"/>
            <a:ext cx="3453384" cy="68828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5212E"/>
                </a:solidFill>
                <a:latin typeface="IBM Plex Sans" pitchFamily="34" charset="0"/>
                <a:ea typeface="IBM Plex Sans" pitchFamily="34" charset="-122"/>
                <a:cs typeface="IBM Plex Sans" pitchFamily="34" charset="-120"/>
              </a:rPr>
              <a:t>3 · Enrich.</a:t>
            </a:r>
            <a:r>
              <a:rPr lang="en-US" sz="1200" dirty="0">
                <a:solidFill>
                  <a:srgbClr val="3D4A57"/>
                </a:solidFill>
                <a:latin typeface="IBM Plex Sans" pitchFamily="34" charset="0"/>
                <a:ea typeface="IBM Plex Sans" pitchFamily="34" charset="-122"/>
                <a:cs typeface="IBM Plex Sans" pitchFamily="34" charset="-120"/>
              </a:rPr>
              <a:t> A title, summary and keywords per moment make a "card" that becomes its own search branch.</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4461B"/>
                </a:solidFill>
                <a:latin typeface="JetBrains Mono" pitchFamily="49" charset="0"/>
                <a:ea typeface="JetBrains Mono" pitchFamily="49" charset="-122"/>
                <a:cs typeface="JetBrains Mono" pitchFamily="49" charset="-120"/>
              </a:rPr>
              <a:t>PART 2 · THE READ PATH</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Match on small windows, read whole moments</a:t>
            </a:r>
            <a:endParaRPr lang="en-US" sz="3200" dirty="0"/>
          </a:p>
        </p:txBody>
      </p:sp>
      <p:sp>
        <p:nvSpPr>
          <p:cNvPr id="4" name="Shape 2"/>
          <p:cNvSpPr/>
          <p:nvPr/>
        </p:nvSpPr>
        <p:spPr>
          <a:xfrm>
            <a:off x="819150" y="1885900"/>
            <a:ext cx="1548656" cy="718741"/>
          </a:xfrm>
          <a:prstGeom prst="roundRect">
            <a:avLst>
              <a:gd name="adj" fmla="val 9718"/>
            </a:avLst>
          </a:prstGeom>
          <a:solidFill>
            <a:srgbClr val="FBE9DF"/>
          </a:solidFill>
          <a:ln w="12700">
            <a:solidFill>
              <a:srgbClr val="E08A5E"/>
            </a:solidFill>
            <a:prstDash val="solid"/>
          </a:ln>
        </p:spPr>
        <p:txBody>
          <a:bodyPr/>
          <a:p/>
        </p:txBody>
      </p:sp>
      <p:sp>
        <p:nvSpPr>
          <p:cNvPr id="5" name="Text 3"/>
          <p:cNvSpPr/>
          <p:nvPr/>
        </p:nvSpPr>
        <p:spPr>
          <a:xfrm>
            <a:off x="977900" y="2019250"/>
            <a:ext cx="12819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12E"/>
                </a:solidFill>
                <a:latin typeface="IBM Plex Sans" pitchFamily="34" charset="0"/>
                <a:ea typeface="IBM Plex Sans" pitchFamily="34" charset="-122"/>
                <a:cs typeface="IBM Plex Sans" pitchFamily="34" charset="-120"/>
              </a:rPr>
              <a:t>Dense · windows</a:t>
            </a:r>
            <a:endParaRPr lang="en-US" sz="1200" dirty="0"/>
          </a:p>
        </p:txBody>
      </p:sp>
      <p:sp>
        <p:nvSpPr>
          <p:cNvPr id="6" name="Text 4"/>
          <p:cNvSpPr/>
          <p:nvPr/>
        </p:nvSpPr>
        <p:spPr>
          <a:xfrm>
            <a:off x="977900" y="2257971"/>
            <a:ext cx="12819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what is meant</a:t>
            </a:r>
            <a:endParaRPr lang="en-US" sz="1200" dirty="0"/>
          </a:p>
        </p:txBody>
      </p:sp>
      <p:sp>
        <p:nvSpPr>
          <p:cNvPr id="7" name="Shape 5"/>
          <p:cNvSpPr/>
          <p:nvPr/>
        </p:nvSpPr>
        <p:spPr>
          <a:xfrm>
            <a:off x="819150" y="2693541"/>
            <a:ext cx="1548656" cy="932061"/>
          </a:xfrm>
          <a:prstGeom prst="roundRect">
            <a:avLst>
              <a:gd name="adj" fmla="val 7494"/>
            </a:avLst>
          </a:prstGeom>
          <a:solidFill>
            <a:srgbClr val="FBE9DF"/>
          </a:solidFill>
          <a:ln w="12700">
            <a:solidFill>
              <a:srgbClr val="E08A5E"/>
            </a:solidFill>
            <a:prstDash val="solid"/>
          </a:ln>
        </p:spPr>
        <p:txBody>
          <a:bodyPr/>
          <a:p/>
        </p:txBody>
      </p:sp>
      <p:sp>
        <p:nvSpPr>
          <p:cNvPr id="8" name="Text 6"/>
          <p:cNvSpPr/>
          <p:nvPr/>
        </p:nvSpPr>
        <p:spPr>
          <a:xfrm>
            <a:off x="977900" y="2826891"/>
            <a:ext cx="12819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12E"/>
                </a:solidFill>
                <a:latin typeface="IBM Plex Sans" pitchFamily="34" charset="0"/>
                <a:ea typeface="IBM Plex Sans" pitchFamily="34" charset="-122"/>
                <a:cs typeface="IBM Plex Sans" pitchFamily="34" charset="-120"/>
              </a:rPr>
              <a:t>BM25 · windows</a:t>
            </a:r>
            <a:endParaRPr lang="en-US" sz="1200" dirty="0"/>
          </a:p>
        </p:txBody>
      </p:sp>
      <p:sp>
        <p:nvSpPr>
          <p:cNvPr id="9" name="Text 7"/>
          <p:cNvSpPr/>
          <p:nvPr/>
        </p:nvSpPr>
        <p:spPr>
          <a:xfrm>
            <a:off x="977900" y="3065611"/>
            <a:ext cx="12819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exact names, numbers</a:t>
            </a:r>
            <a:endParaRPr lang="en-US" sz="1200" dirty="0"/>
          </a:p>
        </p:txBody>
      </p:sp>
      <p:sp>
        <p:nvSpPr>
          <p:cNvPr id="10" name="Shape 8"/>
          <p:cNvSpPr/>
          <p:nvPr/>
        </p:nvSpPr>
        <p:spPr>
          <a:xfrm>
            <a:off x="819150" y="3714502"/>
            <a:ext cx="1548656" cy="932061"/>
          </a:xfrm>
          <a:prstGeom prst="roundRect">
            <a:avLst>
              <a:gd name="adj" fmla="val 7494"/>
            </a:avLst>
          </a:prstGeom>
          <a:solidFill>
            <a:srgbClr val="FBE9DF"/>
          </a:solidFill>
          <a:ln w="12700">
            <a:solidFill>
              <a:srgbClr val="E08A5E"/>
            </a:solidFill>
            <a:prstDash val="solid"/>
          </a:ln>
        </p:spPr>
        <p:txBody>
          <a:bodyPr/>
          <a:p/>
        </p:txBody>
      </p:sp>
      <p:sp>
        <p:nvSpPr>
          <p:cNvPr id="11" name="Text 9"/>
          <p:cNvSpPr/>
          <p:nvPr/>
        </p:nvSpPr>
        <p:spPr>
          <a:xfrm>
            <a:off x="977900" y="3847852"/>
            <a:ext cx="128195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5212E"/>
                </a:solidFill>
                <a:latin typeface="IBM Plex Sans" pitchFamily="34" charset="0"/>
                <a:ea typeface="IBM Plex Sans" pitchFamily="34" charset="-122"/>
                <a:cs typeface="IBM Plex Sans" pitchFamily="34" charset="-120"/>
              </a:rPr>
              <a:t>Dense · moment cards</a:t>
            </a:r>
            <a:endParaRPr lang="en-US" sz="1200" dirty="0"/>
          </a:p>
        </p:txBody>
      </p:sp>
      <p:sp>
        <p:nvSpPr>
          <p:cNvPr id="12" name="Text 10"/>
          <p:cNvSpPr/>
          <p:nvPr/>
        </p:nvSpPr>
        <p:spPr>
          <a:xfrm>
            <a:off x="977900" y="4299893"/>
            <a:ext cx="12819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what it's about</a:t>
            </a:r>
            <a:endParaRPr lang="en-US" sz="1200" dirty="0"/>
          </a:p>
        </p:txBody>
      </p:sp>
      <p:pic>
        <p:nvPicPr>
          <p:cNvPr id="13" name="Image 0" descr="arrow-right">    </p:cNvPr>
          <p:cNvPicPr>
            <a:picLocks noChangeAspect="1"/>
          </p:cNvPicPr>
          <p:nvPr/>
        </p:nvPicPr>
        <p:blipFill>
          <a:blip r:embed="rId1"/>
          <a:srcRect l="0" r="0" t="0" b="0"/>
          <a:stretch/>
        </p:blipFill>
        <p:spPr>
          <a:xfrm>
            <a:off x="2475756" y="3190032"/>
            <a:ext cx="254000" cy="152400"/>
          </a:xfrm>
          <a:prstGeom prst="rect">
            <a:avLst/>
          </a:prstGeom>
        </p:spPr>
      </p:pic>
      <p:sp>
        <p:nvSpPr>
          <p:cNvPr id="14" name="Shape 11"/>
          <p:cNvSpPr/>
          <p:nvPr/>
        </p:nvSpPr>
        <p:spPr>
          <a:xfrm>
            <a:off x="2837706" y="1885900"/>
            <a:ext cx="1787674" cy="2760663"/>
          </a:xfrm>
          <a:prstGeom prst="roundRect">
            <a:avLst>
              <a:gd name="adj" fmla="val 4618"/>
            </a:avLst>
          </a:prstGeom>
          <a:solidFill>
            <a:srgbClr val="FFFFFF"/>
          </a:solidFill>
          <a:ln w="12700">
            <a:solidFill>
              <a:srgbClr val="D8D2C4"/>
            </a:solidFill>
            <a:prstDash val="solid"/>
          </a:ln>
        </p:spPr>
        <p:txBody>
          <a:bodyPr/>
          <a:p/>
        </p:txBody>
      </p:sp>
      <p:sp>
        <p:nvSpPr>
          <p:cNvPr id="15" name="Text 12"/>
          <p:cNvSpPr/>
          <p:nvPr/>
        </p:nvSpPr>
        <p:spPr>
          <a:xfrm>
            <a:off x="3021856" y="2070050"/>
            <a:ext cx="14701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Space Grotesk" pitchFamily="34" charset="0"/>
                <a:ea typeface="Space Grotesk" pitchFamily="34" charset="-122"/>
                <a:cs typeface="Space Grotesk" pitchFamily="34" charset="-120"/>
              </a:rPr>
              <a:t>Fuse</a:t>
            </a:r>
            <a:endParaRPr lang="en-US" sz="1500" dirty="0"/>
          </a:p>
        </p:txBody>
      </p:sp>
      <p:sp>
        <p:nvSpPr>
          <p:cNvPr id="16" name="Text 13"/>
          <p:cNvSpPr/>
          <p:nvPr/>
        </p:nvSpPr>
        <p:spPr>
          <a:xfrm>
            <a:off x="3021856" y="2374850"/>
            <a:ext cx="1470174" cy="130532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RRF per branch; window hits fold into their moment; best hit per branch; ×1.25 when 2+ agree</a:t>
            </a:r>
            <a:endParaRPr lang="en-US" sz="1200" dirty="0"/>
          </a:p>
        </p:txBody>
      </p:sp>
      <p:pic>
        <p:nvPicPr>
          <p:cNvPr id="17" name="Image 1" descr="arrow-right">    </p:cNvPr>
          <p:cNvPicPr>
            <a:picLocks noChangeAspect="1"/>
          </p:cNvPicPr>
          <p:nvPr/>
        </p:nvPicPr>
        <p:blipFill>
          <a:blip r:embed="rId2"/>
          <a:srcRect l="0" r="0" t="0" b="0"/>
          <a:stretch/>
        </p:blipFill>
        <p:spPr>
          <a:xfrm>
            <a:off x="4733330" y="3190032"/>
            <a:ext cx="254000" cy="152400"/>
          </a:xfrm>
          <a:prstGeom prst="rect">
            <a:avLst/>
          </a:prstGeom>
        </p:spPr>
      </p:pic>
      <p:sp>
        <p:nvSpPr>
          <p:cNvPr id="18" name="Shape 14"/>
          <p:cNvSpPr/>
          <p:nvPr/>
        </p:nvSpPr>
        <p:spPr>
          <a:xfrm>
            <a:off x="5095280" y="1885900"/>
            <a:ext cx="1787723" cy="2760663"/>
          </a:xfrm>
          <a:prstGeom prst="roundRect">
            <a:avLst>
              <a:gd name="adj" fmla="val 4618"/>
            </a:avLst>
          </a:prstGeom>
          <a:solidFill>
            <a:srgbClr val="FFFFFF"/>
          </a:solidFill>
          <a:ln w="12700">
            <a:solidFill>
              <a:srgbClr val="D8D2C4"/>
            </a:solidFill>
            <a:prstDash val="solid"/>
          </a:ln>
        </p:spPr>
        <p:txBody>
          <a:bodyPr/>
          <a:p/>
        </p:txBody>
      </p:sp>
      <p:sp>
        <p:nvSpPr>
          <p:cNvPr id="19" name="Text 15"/>
          <p:cNvSpPr/>
          <p:nvPr/>
        </p:nvSpPr>
        <p:spPr>
          <a:xfrm>
            <a:off x="5279430" y="2070050"/>
            <a:ext cx="147022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Space Grotesk" pitchFamily="34" charset="0"/>
                <a:ea typeface="Space Grotesk" pitchFamily="34" charset="-122"/>
                <a:cs typeface="Space Grotesk" pitchFamily="34" charset="-120"/>
              </a:rPr>
              <a:t>Rerank</a:t>
            </a:r>
            <a:endParaRPr lang="en-US" sz="1500" dirty="0"/>
          </a:p>
        </p:txBody>
      </p:sp>
      <p:sp>
        <p:nvSpPr>
          <p:cNvPr id="20" name="Text 16"/>
          <p:cNvSpPr/>
          <p:nvPr/>
        </p:nvSpPr>
        <p:spPr>
          <a:xfrm>
            <a:off x="5279430" y="2374850"/>
            <a:ext cx="1470223" cy="130532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Cross-encoder reads every window of the top 8 moments; the best window is the anchor</a:t>
            </a:r>
            <a:endParaRPr lang="en-US" sz="1200" dirty="0"/>
          </a:p>
        </p:txBody>
      </p:sp>
      <p:pic>
        <p:nvPicPr>
          <p:cNvPr id="21" name="Image 2" descr="arrow-right">    </p:cNvPr>
          <p:cNvPicPr>
            <a:picLocks noChangeAspect="1"/>
          </p:cNvPicPr>
          <p:nvPr/>
        </p:nvPicPr>
        <p:blipFill>
          <a:blip r:embed="rId3"/>
          <a:srcRect l="0" r="0" t="0" b="0"/>
          <a:stretch/>
        </p:blipFill>
        <p:spPr>
          <a:xfrm>
            <a:off x="6990953" y="3190032"/>
            <a:ext cx="254000" cy="152400"/>
          </a:xfrm>
          <a:prstGeom prst="rect">
            <a:avLst/>
          </a:prstGeom>
        </p:spPr>
      </p:pic>
      <p:sp>
        <p:nvSpPr>
          <p:cNvPr id="22" name="Shape 17"/>
          <p:cNvSpPr/>
          <p:nvPr/>
        </p:nvSpPr>
        <p:spPr>
          <a:xfrm>
            <a:off x="7352903" y="1885900"/>
            <a:ext cx="1787723" cy="2760663"/>
          </a:xfrm>
          <a:prstGeom prst="roundRect">
            <a:avLst>
              <a:gd name="adj" fmla="val 4618"/>
            </a:avLst>
          </a:prstGeom>
          <a:solidFill>
            <a:srgbClr val="FFFFFF"/>
          </a:solidFill>
          <a:ln w="12700">
            <a:solidFill>
              <a:srgbClr val="D8D2C4"/>
            </a:solidFill>
            <a:prstDash val="solid"/>
          </a:ln>
        </p:spPr>
        <p:txBody>
          <a:bodyPr/>
          <a:p/>
        </p:txBody>
      </p:sp>
      <p:sp>
        <p:nvSpPr>
          <p:cNvPr id="23" name="Text 18"/>
          <p:cNvSpPr/>
          <p:nvPr/>
        </p:nvSpPr>
        <p:spPr>
          <a:xfrm>
            <a:off x="7537053" y="2070050"/>
            <a:ext cx="147022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12E"/>
                </a:solidFill>
                <a:latin typeface="Space Grotesk" pitchFamily="34" charset="0"/>
                <a:ea typeface="Space Grotesk" pitchFamily="34" charset="-122"/>
                <a:cs typeface="Space Grotesk" pitchFamily="34" charset="-120"/>
              </a:rPr>
              <a:t>Gate</a:t>
            </a:r>
            <a:endParaRPr lang="en-US" sz="1500" dirty="0"/>
          </a:p>
        </p:txBody>
      </p:sp>
      <p:sp>
        <p:nvSpPr>
          <p:cNvPr id="24" name="Text 19"/>
          <p:cNvSpPr/>
          <p:nvPr/>
        </p:nvSpPr>
        <p:spPr>
          <a:xfrm>
            <a:off x="7537053" y="2374850"/>
            <a:ext cx="147022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7"/>
                </a:solidFill>
                <a:latin typeface="IBM Plex Sans" pitchFamily="34" charset="0"/>
                <a:ea typeface="IBM Plex Sans" pitchFamily="34" charset="-122"/>
                <a:cs typeface="IBM Plex Sans" pitchFamily="34" charset="-120"/>
              </a:rPr>
              <a:t>Rerank and dense both weak? Abstain with no LLM call</a:t>
            </a:r>
            <a:endParaRPr lang="en-US" sz="1200" dirty="0"/>
          </a:p>
        </p:txBody>
      </p:sp>
      <p:pic>
        <p:nvPicPr>
          <p:cNvPr id="25" name="Image 3" descr="arrow-right">    </p:cNvPr>
          <p:cNvPicPr>
            <a:picLocks noChangeAspect="1"/>
          </p:cNvPicPr>
          <p:nvPr/>
        </p:nvPicPr>
        <p:blipFill>
          <a:blip r:embed="rId4"/>
          <a:srcRect l="0" r="0" t="0" b="0"/>
          <a:stretch/>
        </p:blipFill>
        <p:spPr>
          <a:xfrm>
            <a:off x="9248577" y="3190032"/>
            <a:ext cx="254000" cy="152400"/>
          </a:xfrm>
          <a:prstGeom prst="rect">
            <a:avLst/>
          </a:prstGeom>
        </p:spPr>
      </p:pic>
      <p:sp>
        <p:nvSpPr>
          <p:cNvPr id="26" name="Shape 20"/>
          <p:cNvSpPr/>
          <p:nvPr/>
        </p:nvSpPr>
        <p:spPr>
          <a:xfrm>
            <a:off x="9604177" y="1879550"/>
            <a:ext cx="1775023" cy="2773363"/>
          </a:xfrm>
          <a:prstGeom prst="roundRect">
            <a:avLst>
              <a:gd name="adj" fmla="val 5008"/>
            </a:avLst>
          </a:prstGeom>
          <a:solidFill>
            <a:srgbClr val="15212E"/>
          </a:solidFill>
          <a:ln/>
        </p:spPr>
        <p:txBody>
          <a:bodyPr/>
          <a:p/>
        </p:txBody>
      </p:sp>
      <p:sp>
        <p:nvSpPr>
          <p:cNvPr id="27" name="Text 21"/>
          <p:cNvSpPr/>
          <p:nvPr/>
        </p:nvSpPr>
        <p:spPr>
          <a:xfrm>
            <a:off x="9781977" y="2057350"/>
            <a:ext cx="147022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F"/>
                </a:solidFill>
                <a:latin typeface="Space Grotesk" pitchFamily="34" charset="0"/>
                <a:ea typeface="Space Grotesk" pitchFamily="34" charset="-122"/>
                <a:cs typeface="Space Grotesk" pitchFamily="34" charset="-120"/>
              </a:rPr>
              <a:t>Answer</a:t>
            </a:r>
            <a:endParaRPr lang="en-US" sz="1500" dirty="0"/>
          </a:p>
        </p:txBody>
      </p:sp>
      <p:sp>
        <p:nvSpPr>
          <p:cNvPr id="28" name="Text 22"/>
          <p:cNvSpPr/>
          <p:nvPr/>
        </p:nvSpPr>
        <p:spPr>
          <a:xfrm>
            <a:off x="9781977" y="2362150"/>
            <a:ext cx="147022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4CF"/>
                </a:solidFill>
                <a:latin typeface="IBM Plex Sans" pitchFamily="34" charset="0"/>
                <a:ea typeface="IBM Plex Sans" pitchFamily="34" charset="-122"/>
                <a:cs typeface="IBM Plex Sans" pitchFamily="34" charset="-120"/>
              </a:rPr>
              <a:t>LLM reads 3 whole moments; cites [n] with a jump-to timestamp</a:t>
            </a:r>
            <a:endParaRPr lang="en-US" sz="1200" dirty="0"/>
          </a:p>
        </p:txBody>
      </p:sp>
      <p:sp>
        <p:nvSpPr>
          <p:cNvPr id="29" name="Text 23"/>
          <p:cNvSpPr/>
          <p:nvPr/>
        </p:nvSpPr>
        <p:spPr>
          <a:xfrm>
            <a:off x="812800" y="4957713"/>
            <a:ext cx="5284724" cy="74349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Two granularities.</a:t>
            </a:r>
            <a:r>
              <a:rPr lang="en-US" sz="1300" dirty="0">
                <a:solidFill>
                  <a:srgbClr val="3D4A57"/>
                </a:solidFill>
                <a:latin typeface="IBM Plex Sans" pitchFamily="34" charset="0"/>
                <a:ea typeface="IBM Plex Sans" pitchFamily="34" charset="-122"/>
                <a:cs typeface="IBM Plex Sans" pitchFamily="34" charset="-120"/>
              </a:rPr>
              <a:t> A 20s window is precise enough to point at the answer. A ~90s moment holds the whole explanation. The baseline has to pick one chunk size to do both jobs.</a:t>
            </a:r>
            <a:endParaRPr lang="en-US" sz="1300" dirty="0"/>
          </a:p>
        </p:txBody>
      </p:sp>
      <p:sp>
        <p:nvSpPr>
          <p:cNvPr id="30" name="Text 24"/>
          <p:cNvSpPr/>
          <p:nvPr/>
        </p:nvSpPr>
        <p:spPr>
          <a:xfrm>
            <a:off x="6248400" y="4957713"/>
            <a:ext cx="5284724" cy="74349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Grounded by construction.</a:t>
            </a:r>
            <a:r>
              <a:rPr lang="en-US" sz="1300" dirty="0">
                <a:solidFill>
                  <a:srgbClr val="3D4A57"/>
                </a:solidFill>
                <a:latin typeface="IBM Plex Sans" pitchFamily="34" charset="0"/>
                <a:ea typeface="IBM Plex Sans" pitchFamily="34" charset="-122"/>
                <a:cs typeface="IBM Plex Sans" pitchFamily="34" charset="-120"/>
              </a:rPr>
              <a:t> Timestamps and links come from the retrieved payload; [n] references to moments the LLM never saw are stripped.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4461B"/>
                </a:solidFill>
                <a:latin typeface="JetBrains Mono" pitchFamily="49" charset="0"/>
                <a:ea typeface="JetBrains Mono" pitchFamily="49" charset="-122"/>
                <a:cs typeface="JetBrains Mono" pitchFamily="49" charset="-120"/>
              </a:rPr>
              <a:t>RETRIEVAL · 30 ANSWERABLE + 6 UNANSWERABLE QUESTIONS</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Same word budget: more evidence, and it points at the answer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13880"/>
          <a:ext cx="10553700" cy="2041823"/>
        </p:xfrm>
        <a:graphic>
          <a:graphicData uri="http://schemas.openxmlformats.org/drawingml/2006/table">
            <a:tbl>
              <a:tblPr/>
              <a:tblGrid>
                <a:gridCol w="2638425"/>
                <a:gridCol w="1371981"/>
                <a:gridCol w="1160907"/>
                <a:gridCol w="1477518"/>
                <a:gridCol w="1371981"/>
                <a:gridCol w="1160907"/>
                <a:gridCol w="1371981"/>
              </a:tblGrid>
              <a:tr h="88379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System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Evidence found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Span MRR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Jump lands on answer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Median jump error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Context words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Refused unanswerable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8601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Baseline, top-3 chunks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83.3%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0.850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56.7%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30.1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600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0 / 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Baseline, top-5 chunks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90.0%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0.858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56.7%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30.1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996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0 / 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Moment RAG, top-3 moments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93.3%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0.883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73.3%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7.9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635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3 / 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r>
            </a:tbl>
          </a:graphicData>
        </a:graphic>
      </p:graphicFrame>
      <p:sp>
        <p:nvSpPr>
          <p:cNvPr id="5" name="Text 2"/>
          <p:cNvSpPr/>
          <p:nvPr/>
        </p:nvSpPr>
        <p:spPr>
          <a:xfrm>
            <a:off x="812800" y="4635103"/>
            <a:ext cx="3453384" cy="982861"/>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More recall per word.</a:t>
            </a:r>
            <a:r>
              <a:rPr lang="en-US" sz="1300" dirty="0">
                <a:solidFill>
                  <a:srgbClr val="3D4A57"/>
                </a:solidFill>
                <a:latin typeface="IBM Plex Sans" pitchFamily="34" charset="0"/>
                <a:ea typeface="IBM Plex Sans" pitchFamily="34" charset="-122"/>
                <a:cs typeface="IBM Plex Sans" pitchFamily="34" charset="-120"/>
              </a:rPr>
              <a:t> Three moments (635 words) beat three chunks (600 words), and even five chunks (996 words).</a:t>
            </a:r>
            <a:endParaRPr lang="en-US" sz="1300" dirty="0"/>
          </a:p>
        </p:txBody>
      </p:sp>
      <p:sp>
        <p:nvSpPr>
          <p:cNvPr id="6" name="Text 3"/>
          <p:cNvSpPr/>
          <p:nvPr/>
        </p:nvSpPr>
        <p:spPr>
          <a:xfrm>
            <a:off x="4419600" y="4635103"/>
            <a:ext cx="3453384" cy="982861"/>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Navigation is the big win. The jump point lands a median 8s from the answer instead of 30s, and Moment RAG exposes a precise user-facing timestamp while the baseline does not.</a:t>
            </a:r>
            <a:r>
              <a:rPr lang="en-US" sz="1300" dirty="0">
                <a:solidFill>
                  <a:srgbClr val="3D4A57"/>
                </a:solidFill>
                <a:latin typeface="IBM Plex Sans" pitchFamily="34" charset="0"/>
                <a:ea typeface="IBM Plex Sans" pitchFamily="34" charset="-122"/>
                <a:cs typeface="IBM Plex Sans" pitchFamily="34" charset="-120"/>
              </a:rPr>
              <a:t/>
            </a:r>
            <a:endParaRPr lang="en-US" sz="1300" dirty="0"/>
          </a:p>
        </p:txBody>
      </p:sp>
      <p:sp>
        <p:nvSpPr>
          <p:cNvPr id="7" name="Text 4"/>
          <p:cNvSpPr/>
          <p:nvPr/>
        </p:nvSpPr>
        <p:spPr>
          <a:xfrm>
            <a:off x="8026400" y="4635103"/>
            <a:ext cx="3453384" cy="982861"/>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Refusal costs something.</a:t>
            </a:r>
            <a:r>
              <a:rPr lang="en-US" sz="1300" dirty="0">
                <a:solidFill>
                  <a:srgbClr val="3D4A57"/>
                </a:solidFill>
                <a:latin typeface="IBM Plex Sans" pitchFamily="34" charset="0"/>
                <a:ea typeface="IBM Plex Sans" pitchFamily="34" charset="-122"/>
                <a:cs typeface="IBM Plex Sans" pitchFamily="34" charset="-120"/>
              </a:rPr>
              <a:t> The gate stops 3/6 off-topic questions with no LLM call, but also wrongly stops 1/30 real one.</a:t>
            </a:r>
            <a:endParaRPr lang="en-US" sz="1300" dirty="0"/>
          </a:p>
        </p:txBody>
      </p:sp>
      <p:sp>
        <p:nvSpPr>
          <p:cNvPr id="8" name="Text 5"/>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8"/>
                </a:solidFill>
                <a:latin typeface="IBM Plex Sans" pitchFamily="34" charset="0"/>
                <a:ea typeface="IBM Plex Sans" pitchFamily="34" charset="-122"/>
                <a:cs typeface="IBM Plex Sans" pitchFamily="34" charset="-120"/>
              </a:rPr>
              <a:t>Evidence: every answer keyword is in the retrieved context. Jump lands: the rank-1 pointer is within 20s before the gold span. Moment RAG uses LLM-written cards.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4461B"/>
                </a:solidFill>
                <a:latin typeface="JetBrains Mono" pitchFamily="49" charset="0"/>
                <a:ea typeface="JetBrains Mono" pitchFamily="49" charset="-122"/>
                <a:cs typeface="JetBrains Mono" pitchFamily="49" charset="-120"/>
              </a:rPr>
              <a:t>SAME QUESTION, SAME LLM (gpt-5.6-luna)</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"According to his formula, what determines the quality of your communication?"</a:t>
            </a:r>
            <a:endParaRPr lang="en-US" sz="3200" dirty="0"/>
          </a:p>
        </p:txBody>
      </p:sp>
      <p:sp>
        <p:nvSpPr>
          <p:cNvPr id="4" name="Shape 2"/>
          <p:cNvSpPr/>
          <p:nvPr/>
        </p:nvSpPr>
        <p:spPr>
          <a:xfrm>
            <a:off x="812800" y="2275780"/>
            <a:ext cx="5181600" cy="2522141"/>
          </a:xfrm>
          <a:prstGeom prst="roundRect">
            <a:avLst>
              <a:gd name="adj" fmla="val 4028"/>
            </a:avLst>
          </a:prstGeom>
          <a:solidFill>
            <a:srgbClr val="E3EAF3"/>
          </a:solidFill>
          <a:ln/>
        </p:spPr>
        <p:txBody>
          <a:bodyPr/>
          <a:p/>
        </p:txBody>
      </p:sp>
      <p:sp>
        <p:nvSpPr>
          <p:cNvPr id="5" name="Text 3"/>
          <p:cNvSpPr/>
          <p:nvPr/>
        </p:nvSpPr>
        <p:spPr>
          <a:xfrm>
            <a:off x="1066800" y="2529780"/>
            <a:ext cx="4813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A8C"/>
                </a:solidFill>
                <a:latin typeface="JetBrains Mono" pitchFamily="49" charset="0"/>
                <a:ea typeface="JetBrains Mono" pitchFamily="49" charset="-122"/>
                <a:cs typeface="JetBrains Mono" pitchFamily="49" charset="-120"/>
              </a:rPr>
              <a:t>BASELINE · top-3 chunks · judged incorrect</a:t>
            </a:r>
            <a:endParaRPr lang="en-US" sz="1200" dirty="0"/>
          </a:p>
        </p:txBody>
      </p:sp>
      <p:sp>
        <p:nvSpPr>
          <p:cNvPr id="6" name="Text 4"/>
          <p:cNvSpPr/>
          <p:nvPr/>
        </p:nvSpPr>
        <p:spPr>
          <a:xfrm>
            <a:off x="1066800" y="2870101"/>
            <a:ext cx="4813808"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5212E"/>
                </a:solidFill>
                <a:latin typeface="IBM Plex Sans" pitchFamily="34" charset="0"/>
                <a:ea typeface="IBM Plex Sans" pitchFamily="34" charset="-122"/>
                <a:cs typeface="IBM Plex Sans" pitchFamily="34" charset="-120"/>
              </a:rPr>
              <a:t>"I couldn't find the formula or the factors determining communication quality in the provided video excerpts."</a:t>
            </a:r>
            <a:endParaRPr lang="en-US" sz="1500" dirty="0"/>
          </a:p>
        </p:txBody>
      </p:sp>
      <p:sp>
        <p:nvSpPr>
          <p:cNvPr id="7" name="Text 5"/>
          <p:cNvSpPr/>
          <p:nvPr/>
        </p:nvSpPr>
        <p:spPr>
          <a:xfrm>
            <a:off x="1066800" y="3825776"/>
            <a:ext cx="481380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7"/>
                </a:solidFill>
                <a:latin typeface="IBM Plex Sans" pitchFamily="34" charset="0"/>
                <a:ea typeface="IBM Plex Sans" pitchFamily="34" charset="-122"/>
                <a:cs typeface="IBM Plex Sans" pitchFamily="34" charset="-120"/>
              </a:rPr>
              <a:t>Sources: three untimed 200-word excerpts. The chunk with the formula ranked 9th.</a:t>
            </a:r>
            <a:endParaRPr lang="en-US" sz="1200" dirty="0"/>
          </a:p>
        </p:txBody>
      </p:sp>
      <p:sp>
        <p:nvSpPr>
          <p:cNvPr id="8" name="Shape 6"/>
          <p:cNvSpPr/>
          <p:nvPr/>
        </p:nvSpPr>
        <p:spPr>
          <a:xfrm>
            <a:off x="6197600" y="2275780"/>
            <a:ext cx="5181600" cy="2522141"/>
          </a:xfrm>
          <a:prstGeom prst="roundRect">
            <a:avLst>
              <a:gd name="adj" fmla="val 4028"/>
            </a:avLst>
          </a:prstGeom>
          <a:solidFill>
            <a:srgbClr val="FBE9DF"/>
          </a:solidFill>
          <a:ln/>
        </p:spPr>
        <p:txBody>
          <a:bodyPr/>
          <a:p/>
        </p:txBody>
      </p:sp>
      <p:sp>
        <p:nvSpPr>
          <p:cNvPr id="9" name="Text 7"/>
          <p:cNvSpPr/>
          <p:nvPr/>
        </p:nvSpPr>
        <p:spPr>
          <a:xfrm>
            <a:off x="6451600" y="2529780"/>
            <a:ext cx="48138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3A15"/>
                </a:solidFill>
                <a:latin typeface="JetBrains Mono" pitchFamily="49" charset="0"/>
                <a:ea typeface="JetBrains Mono" pitchFamily="49" charset="-122"/>
                <a:cs typeface="JetBrains Mono" pitchFamily="49" charset="-120"/>
              </a:rPr>
              <a:t>MOMENT RAG · top-3 moments · judged correct</a:t>
            </a:r>
            <a:endParaRPr lang="en-US" sz="1200" dirty="0"/>
          </a:p>
        </p:txBody>
      </p:sp>
      <p:sp>
        <p:nvSpPr>
          <p:cNvPr id="10" name="Text 8"/>
          <p:cNvSpPr/>
          <p:nvPr/>
        </p:nvSpPr>
        <p:spPr>
          <a:xfrm>
            <a:off x="6451600" y="2870101"/>
            <a:ext cx="4813808"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5212E"/>
                </a:solidFill>
                <a:latin typeface="IBM Plex Sans" pitchFamily="34" charset="0"/>
                <a:ea typeface="IBM Plex Sans" pitchFamily="34" charset="-122"/>
                <a:cs typeface="IBM Plex Sans" pitchFamily="34" charset="-120"/>
              </a:rPr>
              <a:t>"…how much </a:t>
            </a:r>
            <a:r>
              <a:rPr lang="en-US" sz="1500" b="1" dirty="0">
                <a:solidFill>
                  <a:srgbClr val="15212E"/>
                </a:solidFill>
                <a:latin typeface="IBM Plex Sans" pitchFamily="34" charset="0"/>
                <a:ea typeface="IBM Plex Sans" pitchFamily="34" charset="-122"/>
                <a:cs typeface="IBM Plex Sans" pitchFamily="34" charset="-120"/>
              </a:rPr>
              <a:t>knowledge</a:t>
            </a:r>
            <a:r>
              <a:rPr lang="en-US" sz="1500" dirty="0">
                <a:solidFill>
                  <a:srgbClr val="15212E"/>
                </a:solidFill>
                <a:latin typeface="IBM Plex Sans" pitchFamily="34" charset="0"/>
                <a:ea typeface="IBM Plex Sans" pitchFamily="34" charset="-122"/>
                <a:cs typeface="IBM Plex Sans" pitchFamily="34" charset="-120"/>
              </a:rPr>
              <a:t> you have, how much you </a:t>
            </a:r>
            <a:r>
              <a:rPr lang="en-US" sz="1500" b="1" dirty="0">
                <a:solidFill>
                  <a:srgbClr val="15212E"/>
                </a:solidFill>
                <a:latin typeface="IBM Plex Sans" pitchFamily="34" charset="0"/>
                <a:ea typeface="IBM Plex Sans" pitchFamily="34" charset="-122"/>
                <a:cs typeface="IBM Plex Sans" pitchFamily="34" charset="-120"/>
              </a:rPr>
              <a:t>practice</a:t>
            </a:r>
            <a:r>
              <a:rPr lang="en-US" sz="1500" dirty="0">
                <a:solidFill>
                  <a:srgbClr val="15212E"/>
                </a:solidFill>
                <a:latin typeface="IBM Plex Sans" pitchFamily="34" charset="0"/>
                <a:ea typeface="IBM Plex Sans" pitchFamily="34" charset="-122"/>
                <a:cs typeface="IBM Plex Sans" pitchFamily="34" charset="-120"/>
              </a:rPr>
              <a:t> with that knowledge, and your inherent </a:t>
            </a:r>
            <a:r>
              <a:rPr lang="en-US" sz="1500" b="1" dirty="0">
                <a:solidFill>
                  <a:srgbClr val="15212E"/>
                </a:solidFill>
                <a:latin typeface="IBM Plex Sans" pitchFamily="34" charset="0"/>
                <a:ea typeface="IBM Plex Sans" pitchFamily="34" charset="-122"/>
                <a:cs typeface="IBM Plex Sans" pitchFamily="34" charset="-120"/>
              </a:rPr>
              <a:t>talent</a:t>
            </a:r>
            <a:r>
              <a:rPr lang="en-US" sz="1500" dirty="0">
                <a:solidFill>
                  <a:srgbClr val="15212E"/>
                </a:solidFill>
                <a:latin typeface="IBM Plex Sans" pitchFamily="34" charset="0"/>
                <a:ea typeface="IBM Plex Sans" pitchFamily="34" charset="-122"/>
                <a:cs typeface="IBM Plex Sans" pitchFamily="34" charset="-120"/>
              </a:rPr>
              <a:t>. In his formula, inherent talent matters least; knowledge matters most. [1]"</a:t>
            </a:r>
            <a:endParaRPr lang="en-US" sz="1500" dirty="0"/>
          </a:p>
        </p:txBody>
      </p:sp>
      <p:sp>
        <p:nvSpPr>
          <p:cNvPr id="11" name="Text 9"/>
          <p:cNvSpPr/>
          <p:nvPr/>
        </p:nvSpPr>
        <p:spPr>
          <a:xfrm>
            <a:off x="6451600" y="4102001"/>
            <a:ext cx="481380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7"/>
                </a:solidFill>
                <a:latin typeface="IBM Plex Sans" pitchFamily="34" charset="0"/>
                <a:ea typeface="IBM Plex Sans" pitchFamily="34" charset="-122"/>
                <a:cs typeface="IBM Plex Sans" pitchFamily="34" charset="-120"/>
              </a:rPr>
              <a:t>[1] 00:19–02:13 · jump to </a:t>
            </a:r>
            <a:r>
              <a:rPr lang="en-US" sz="1200" b="1" dirty="0">
                <a:solidFill>
                  <a:srgbClr val="3D4A57"/>
                </a:solidFill>
                <a:latin typeface="IBM Plex Sans" pitchFamily="34" charset="0"/>
                <a:ea typeface="IBM Plex Sans" pitchFamily="34" charset="-122"/>
                <a:cs typeface="IBM Plex Sans" pitchFamily="34" charset="-120"/>
              </a:rPr>
              <a:t>00:38</a:t>
            </a:r>
            <a:r>
              <a:rPr lang="en-US" sz="1200" dirty="0">
                <a:solidFill>
                  <a:srgbClr val="3D4A57"/>
                </a:solidFill>
                <a:latin typeface="IBM Plex Sans" pitchFamily="34" charset="0"/>
                <a:ea typeface="IBM Plex Sans" pitchFamily="34" charset="-122"/>
                <a:cs typeface="IBM Plex Sans" pitchFamily="34" charset="-120"/>
              </a:rPr>
              <a:t> (youtube.com/watch?v=Unzc731iCUY&amp;t=38s)</a:t>
            </a:r>
            <a:endParaRPr lang="en-US" sz="1200" dirty="0"/>
          </a:p>
        </p:txBody>
      </p:sp>
      <p:sp>
        <p:nvSpPr>
          <p:cNvPr id="12" name="Text 10"/>
          <p:cNvSpPr/>
          <p:nvPr/>
        </p:nvSpPr>
        <p:spPr>
          <a:xfrm>
            <a:off x="812800" y="5051921"/>
            <a:ext cx="1088339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D4A57"/>
                </a:solidFill>
                <a:latin typeface="IBM Plex Sans" pitchFamily="34" charset="0"/>
                <a:ea typeface="IBM Plex Sans" pitchFamily="34" charset="-122"/>
                <a:cs typeface="IBM Plex Sans" pitchFamily="34" charset="-120"/>
              </a:rPr>
              <a:t>Same pattern on "Where does he get into job talks?": the baseline can't find it; Moment RAG answers "at approximately 43:55", exactly where the section starts.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5248"/>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C4461B"/>
                </a:solidFill>
                <a:latin typeface="JetBrains Mono" pitchFamily="49" charset="0"/>
                <a:ea typeface="JetBrains Mono" pitchFamily="49" charset="-122"/>
                <a:cs typeface="JetBrains Mono" pitchFamily="49" charset="-120"/>
              </a:rPr>
              <a:t>ABLATION · ADDING ONE IDEA AT A TIME</a:t>
            </a:r>
            <a:endParaRPr lang="en-US" sz="1196" dirty="0"/>
          </a:p>
        </p:txBody>
      </p:sp>
      <p:sp>
        <p:nvSpPr>
          <p:cNvPr id="3" name="Text 1"/>
          <p:cNvSpPr/>
          <p:nvPr>
            <p:ph type="title"/>
          </p:nvPr>
        </p:nvSpPr>
        <p:spPr>
          <a:xfrm>
            <a:off x="812800" y="1124248"/>
            <a:ext cx="10883392" cy="904925"/>
          </a:xfrm>
          <a:prstGeom prst="rect">
            <a:avLst/>
          </a:prstGeom>
          <a:noFill/>
          <a:ln/>
        </p:spPr>
        <p:txBody>
          <a:bodyPr wrap="square" lIns="0" tIns="0" rIns="0" bIns="0" rtlCol="0" anchor="t">
            <a:normAutofit/>
          </a:bodyPr>
          <a:lstStyle/>
          <a:p>
            <a:pPr algn="l" indent="0" marL="0">
              <a:lnSpc>
                <a:spcPts val="3487"/>
              </a:lnSpc>
              <a:buNone/>
            </a:pPr>
            <a:r>
              <a:rPr lang="en-US" sz="3170" b="1" i="0" dirty="0">
                <a:solidFill>
                  <a:srgbClr val="15212E"/>
                </a:solidFill>
                <a:latin typeface="Space Grotesk" pitchFamily="34" charset="0"/>
                <a:ea typeface="Space Grotesk" pitchFamily="34" charset="-122"/>
                <a:cs typeface="Space Grotesk" pitchFamily="34" charset="-120"/>
              </a:rPr>
              <a:t>BM25 and good cards add the precision; the reranker's job is the gate</a:t>
            </a:r>
            <a:endParaRPr lang="en-US" sz="317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95872"/>
          <a:ext cx="10553700" cy="2526754"/>
        </p:xfrm>
        <a:graphic>
          <a:graphicData uri="http://schemas.openxmlformats.org/drawingml/2006/table">
            <a:tbl>
              <a:tblPr/>
              <a:tblGrid>
                <a:gridCol w="3588258"/>
                <a:gridCol w="1371981"/>
                <a:gridCol w="1266444"/>
                <a:gridCol w="1371981"/>
                <a:gridCol w="1477518"/>
                <a:gridCol w="1477518"/>
              </a:tblGrid>
              <a:tr h="421084">
                <a:tc>
                  <a:txBody>
                    <a:bodyPr/>
                    <a:lstStyle/>
                    <a:p>
                      <a:pPr indent="0" marL="0">
                        <a:lnSpc>
                          <a:spcPts val="1929"/>
                        </a:lnSpc>
                        <a:buNone/>
                      </a:pPr>
                      <a:r>
                        <a:rPr lang="en-US" sz="1378" b="1" dirty="0">
                          <a:solidFill>
                            <a:srgbClr val="15212E"/>
                          </a:solidFill>
                          <a:latin typeface="IBM Plex Sans" pitchFamily="34" charset="0"/>
                          <a:ea typeface="IBM Plex Sans" pitchFamily="34" charset="-122"/>
                          <a:cs typeface="IBM Plex Sans" pitchFamily="34" charset="-120"/>
                        </a:rPr>
                        <a:t>Configuration (top-3 moments)</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29"/>
                        </a:lnSpc>
                        <a:buNone/>
                      </a:pPr>
                      <a:r>
                        <a:rPr lang="en-US" sz="1378" b="1" dirty="0">
                          <a:solidFill>
                            <a:srgbClr val="15212E"/>
                          </a:solidFill>
                          <a:latin typeface="IBM Plex Sans" pitchFamily="34" charset="0"/>
                          <a:ea typeface="IBM Plex Sans" pitchFamily="34" charset="-122"/>
                          <a:cs typeface="IBM Plex Sans" pitchFamily="34" charset="-120"/>
                        </a:rPr>
                        <a:t>Evidence</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29"/>
                        </a:lnSpc>
                        <a:buNone/>
                      </a:pPr>
                      <a:r>
                        <a:rPr lang="en-US" sz="1378" b="1" dirty="0">
                          <a:solidFill>
                            <a:srgbClr val="15212E"/>
                          </a:solidFill>
                          <a:latin typeface="IBM Plex Sans" pitchFamily="34" charset="0"/>
                          <a:ea typeface="IBM Plex Sans" pitchFamily="34" charset="-122"/>
                          <a:cs typeface="IBM Plex Sans" pitchFamily="34" charset="-120"/>
                        </a:rPr>
                        <a:t>Span MRR</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29"/>
                        </a:lnSpc>
                        <a:buNone/>
                      </a:pPr>
                      <a:r>
                        <a:rPr lang="en-US" sz="1378" b="1" dirty="0">
                          <a:solidFill>
                            <a:srgbClr val="15212E"/>
                          </a:solidFill>
                          <a:latin typeface="IBM Plex Sans" pitchFamily="34" charset="0"/>
                          <a:ea typeface="IBM Plex Sans" pitchFamily="34" charset="-122"/>
                          <a:cs typeface="IBM Plex Sans" pitchFamily="34" charset="-120"/>
                        </a:rPr>
                        <a:t>Jump lands</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29"/>
                        </a:lnSpc>
                        <a:buNone/>
                      </a:pPr>
                      <a:r>
                        <a:rPr lang="en-US" sz="1378" b="1" dirty="0">
                          <a:solidFill>
                            <a:srgbClr val="15212E"/>
                          </a:solidFill>
                          <a:latin typeface="IBM Plex Sans" pitchFamily="34" charset="0"/>
                          <a:ea typeface="IBM Plex Sans" pitchFamily="34" charset="-122"/>
                          <a:cs typeface="IBM Plex Sans" pitchFamily="34" charset="-120"/>
                        </a:rPr>
                        <a:t>Refused unans.</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29"/>
                        </a:lnSpc>
                        <a:buNone/>
                      </a:pPr>
                      <a:r>
                        <a:rPr lang="en-US" sz="1378" b="1" dirty="0">
                          <a:solidFill>
                            <a:srgbClr val="15212E"/>
                          </a:solidFill>
                          <a:latin typeface="IBM Plex Sans" pitchFamily="34" charset="0"/>
                          <a:ea typeface="IBM Plex Sans" pitchFamily="34" charset="-122"/>
                          <a:cs typeface="IBM Plex Sans" pitchFamily="34" charset="-120"/>
                        </a:rPr>
                        <a:t>Latency</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421134">
                <a:tc>
                  <a:txBody>
                    <a:bodyPr/>
                    <a:lstStyle/>
                    <a:p>
                      <a:pP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Moments, dense windows only</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90.0%</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0.844</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70.0%</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0 / 6</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6 ms</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1134">
                <a:tc>
                  <a:txBody>
                    <a:bodyPr/>
                    <a:lstStyle/>
                    <a:p>
                      <a:pP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 BM25 lexical branch</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93.3%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0.900</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76.7%</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0 / 6</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6 ms</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1134">
                <a:tc>
                  <a:txBody>
                    <a:bodyPr/>
                    <a:lstStyle/>
                    <a:p>
                      <a:pP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 moment cards (LLM-written)</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93.3%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0.933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83.3%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0 / 6</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6 ms</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1134">
                <a:tc>
                  <a:txBody>
                    <a:bodyPr/>
                    <a:lstStyle/>
                    <a:p>
                      <a:pP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 cross-encoder rerank / anchor</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93.3%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0.883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73.3%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0 / 6</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37 ms</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21134">
                <a:tc>
                  <a:txBody>
                    <a:bodyPr/>
                    <a:lstStyle/>
                    <a:p>
                      <a:pP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 confidence gate (full)</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4C3BF"/>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93.3%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0.883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73.3%</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3 / 6</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29"/>
                        </a:lnSpc>
                        <a:buNone/>
                      </a:pPr>
                      <a:r>
                        <a:rPr lang="en-US" sz="1378" dirty="0">
                          <a:solidFill>
                            <a:srgbClr val="15212E"/>
                          </a:solidFill>
                          <a:latin typeface="IBM Plex Sans" pitchFamily="34" charset="0"/>
                          <a:ea typeface="IBM Plex Sans" pitchFamily="34" charset="-122"/>
                          <a:cs typeface="IBM Plex Sans" pitchFamily="34" charset="-120"/>
                        </a:rPr>
                        <a:t>39 ms</a:t>
                      </a:r>
                      <a:endParaRPr lang="en-US" sz="1378" dirty="0">
                        <a:latin typeface="IBM Plex Sans" charset="0"/>
                        <a:ea typeface="IBM Plex Sans" charset="0"/>
                        <a:cs typeface="IBM Plex Sans" charset="0"/>
                      </a:endParaRPr>
                    </a:p>
                  </a:txBody>
                  <a:tcPr marL="61258" marR="61258" marT="61258" marB="61258"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r>
            </a:tbl>
          </a:graphicData>
        </a:graphic>
      </p:graphicFrame>
      <p:sp>
        <p:nvSpPr>
          <p:cNvPr id="5" name="Text 2"/>
          <p:cNvSpPr/>
          <p:nvPr/>
        </p:nvSpPr>
        <p:spPr>
          <a:xfrm>
            <a:off x="812800" y="5102027"/>
            <a:ext cx="3453384" cy="968573"/>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Cards must be distinct. In the card-branch ablation, extractive cards reduce evidence to 83.3% because 17 moments share the same chapter title.</a:t>
            </a:r>
            <a:r>
              <a:rPr lang="en-US" sz="1300" dirty="0">
                <a:solidFill>
                  <a:srgbClr val="3D4A57"/>
                </a:solidFill>
                <a:latin typeface="IBM Plex Sans" pitchFamily="34" charset="0"/>
                <a:ea typeface="IBM Plex Sans" pitchFamily="34" charset="-122"/>
                <a:cs typeface="IBM Plex Sans" pitchFamily="34" charset="-120"/>
              </a:rPr>
              <a:t/>
            </a:r>
            <a:endParaRPr lang="en-US" sz="1300" dirty="0"/>
          </a:p>
        </p:txBody>
      </p:sp>
      <p:sp>
        <p:nvSpPr>
          <p:cNvPr id="6" name="Text 3"/>
          <p:cNvSpPr/>
          <p:nvPr/>
        </p:nvSpPr>
        <p:spPr>
          <a:xfrm>
            <a:off x="4419600" y="5102027"/>
            <a:ext cx="3453384" cy="968573"/>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Rerank alone costs precision.</a:t>
            </a:r>
            <a:r>
              <a:rPr lang="en-US" sz="1300" dirty="0">
                <a:solidFill>
                  <a:srgbClr val="3D4A57"/>
                </a:solidFill>
                <a:latin typeface="IBM Plex Sans" pitchFamily="34" charset="0"/>
                <a:ea typeface="IBM Plex Sans" pitchFamily="34" charset="-122"/>
                <a:cs typeface="IBM Plex Sans" pitchFamily="34" charset="-120"/>
              </a:rPr>
              <a:t> It lowers MRR and jump accuracy, on this video and on Karpathy's. Its value is a calibrated score for the gate.</a:t>
            </a:r>
            <a:endParaRPr lang="en-US" sz="1300" dirty="0"/>
          </a:p>
        </p:txBody>
      </p:sp>
      <p:sp>
        <p:nvSpPr>
          <p:cNvPr id="7" name="Text 4"/>
          <p:cNvSpPr/>
          <p:nvPr/>
        </p:nvSpPr>
        <p:spPr>
          <a:xfrm>
            <a:off x="8026400" y="5102027"/>
            <a:ext cx="3453384" cy="968573"/>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The gate is a trade.</a:t>
            </a:r>
            <a:r>
              <a:rPr lang="en-US" sz="1300" dirty="0">
                <a:solidFill>
                  <a:srgbClr val="3D4A57"/>
                </a:solidFill>
                <a:latin typeface="IBM Plex Sans" pitchFamily="34" charset="0"/>
                <a:ea typeface="IBM Plex Sans" pitchFamily="34" charset="-122"/>
                <a:cs typeface="IBM Plex Sans" pitchFamily="34" charset="-120"/>
              </a:rPr>
              <a:t> 3 of 6 off-topic questions stopped with no LLM call; 1 of 30 real ones wrongly stopped.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4461B"/>
                </a:solidFill>
                <a:latin typeface="JetBrains Mono" pitchFamily="49" charset="0"/>
                <a:ea typeface="JetBrains Mono" pitchFamily="49" charset="-122"/>
                <a:cs typeface="JetBrains Mono" pitchFamily="49" charset="-120"/>
              </a:rPr>
              <a:t>ABLATION · WHERE THE MOMENT BOUNDARIES GO</a:t>
            </a:r>
            <a:endParaRPr lang="en-US" sz="1200" dirty="0"/>
          </a:p>
        </p:txBody>
      </p:sp>
      <p:sp>
        <p:nvSpPr>
          <p:cNvPr id="3" name="Text 1"/>
          <p:cNvSpPr/>
          <p:nvPr>
            <p:ph type="title"/>
          </p:nvPr>
        </p:nvSpPr>
        <p:spPr>
          <a:xfrm>
            <a:off x="812800" y="1127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Longer moments find a little more, at up to 6.7× the cost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13880"/>
          <a:ext cx="10553700" cy="1930053"/>
        </p:xfrm>
        <a:graphic>
          <a:graphicData uri="http://schemas.openxmlformats.org/drawingml/2006/table">
            <a:tbl>
              <a:tblPr/>
              <a:tblGrid>
                <a:gridCol w="3166110"/>
                <a:gridCol w="1266444"/>
                <a:gridCol w="1583055"/>
                <a:gridCol w="1371981"/>
                <a:gridCol w="1477518"/>
                <a:gridCol w="1688592"/>
              </a:tblGrid>
              <a:tr h="38601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Segmentation (full retriever)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Moments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Median length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Evidence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Jump lands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Context words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8601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Fixed 120 s blocks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130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96.7%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76.7%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929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Chapters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11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219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96.7%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73.3%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4,245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Semantic (TextTiling)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47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73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93.3%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73.3%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657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Chapters + semantic (default)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49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72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93.3%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73.3%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635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r>
            </a:tbl>
          </a:graphicData>
        </a:graphic>
      </p:graphicFrame>
      <p:sp>
        <p:nvSpPr>
          <p:cNvPr id="5" name="Text 2"/>
          <p:cNvSpPr/>
          <p:nvPr/>
        </p:nvSpPr>
        <p:spPr>
          <a:xfrm>
            <a:off x="812800" y="4523333"/>
            <a:ext cx="5284724" cy="74349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The one extra hit is a long list.</a:t>
            </a:r>
            <a:r>
              <a:rPr lang="en-US" sz="1300" dirty="0">
                <a:solidFill>
                  <a:srgbClr val="3D4A57"/>
                </a:solidFill>
                <a:latin typeface="IBM Plex Sans" pitchFamily="34" charset="0"/>
                <a:ea typeface="IBM Plex Sans" pitchFamily="34" charset="-122"/>
                <a:cs typeface="IBM Plex Sans" pitchFamily="34" charset="-120"/>
              </a:rPr>
              <a:t> Winston's star (five elements over three minutes) fits in a 2-minute block but is split across three 72s moments.</a:t>
            </a:r>
            <a:endParaRPr lang="en-US" sz="1300" dirty="0"/>
          </a:p>
        </p:txBody>
      </p:sp>
      <p:sp>
        <p:nvSpPr>
          <p:cNvPr id="6" name="Text 3"/>
          <p:cNvSpPr/>
          <p:nvPr/>
        </p:nvSpPr>
        <p:spPr>
          <a:xfrm>
            <a:off x="6248400" y="4523333"/>
            <a:ext cx="5284724" cy="74349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5212E"/>
                </a:solidFill>
                <a:latin typeface="IBM Plex Sans" pitchFamily="34" charset="0"/>
                <a:ea typeface="IBM Plex Sans" pitchFamily="34" charset="-122"/>
                <a:cs typeface="IBM Plex Sans" pitchFamily="34" charset="-120"/>
              </a:rPr>
              <a:t>Short, topical moments are cheap.</a:t>
            </a:r>
            <a:r>
              <a:rPr lang="en-US" sz="1300" dirty="0">
                <a:solidFill>
                  <a:srgbClr val="3D4A57"/>
                </a:solidFill>
                <a:latin typeface="IBM Plex Sans" pitchFamily="34" charset="0"/>
                <a:ea typeface="IBM Plex Sans" pitchFamily="34" charset="-122"/>
                <a:cs typeface="IBM Plex Sans" pitchFamily="34" charset="-120"/>
              </a:rPr>
              <a:t> Chapters alone send 6.7× the words; fixed blocks send 1.5× for one more question.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1775"/>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C4461B"/>
                </a:solidFill>
                <a:latin typeface="JetBrains Mono" pitchFamily="49" charset="0"/>
                <a:ea typeface="JetBrains Mono" pitchFamily="49" charset="-122"/>
                <a:cs typeface="JetBrains Mono" pitchFamily="49" charset="-120"/>
              </a:rPr>
              <a:t>ANSWER QUALITY · TWO BLIND LLM JUDGES VS REFERENCE ANSWERS</a:t>
            </a:r>
            <a:endParaRPr lang="en-US" sz="1196" dirty="0"/>
          </a:p>
        </p:txBody>
      </p:sp>
      <p:sp>
        <p:nvSpPr>
          <p:cNvPr id="3" name="Text 1"/>
          <p:cNvSpPr/>
          <p:nvPr>
            <p:ph type="title"/>
          </p:nvPr>
        </p:nvSpPr>
        <p:spPr>
          <a:xfrm>
            <a:off x="812800" y="1120775"/>
            <a:ext cx="10883392" cy="457895"/>
          </a:xfrm>
          <a:prstGeom prst="rect">
            <a:avLst/>
          </a:prstGeom>
          <a:noFill/>
          <a:ln/>
        </p:spPr>
        <p:txBody>
          <a:bodyPr wrap="square" lIns="0" tIns="0" rIns="0" bIns="0" rtlCol="0" anchor="t">
            <a:normAutofit/>
          </a:bodyPr>
          <a:lstStyle/>
          <a:p>
            <a:pPr algn="l" indent="0" marL="0">
              <a:lnSpc>
                <a:spcPts val="3421"/>
              </a:lnSpc>
              <a:buNone/>
            </a:pPr>
            <a:r>
              <a:rPr lang="en-US" sz="3110" b="1" i="0" dirty="0">
                <a:solidFill>
                  <a:srgbClr val="15212E"/>
                </a:solidFill>
                <a:latin typeface="Space Grotesk" pitchFamily="34" charset="0"/>
                <a:ea typeface="Space Grotesk" pitchFamily="34" charset="-122"/>
                <a:cs typeface="Space Grotesk" pitchFamily="34" charset="-120"/>
              </a:rPr>
              <a:t>The main result survives an independent judge</a:t>
            </a:r>
            <a:endParaRPr lang="en-US" sz="3110" dirty="0"/>
          </a:p>
        </p:txBody>
      </p:sp>
      <p:sp>
        <p:nvSpPr>
          <p:cNvPr id="4" name="Shape 2"/>
          <p:cNvSpPr/>
          <p:nvPr/>
        </p:nvSpPr>
        <p:spPr>
          <a:xfrm>
            <a:off x="812800" y="1756470"/>
            <a:ext cx="5181600" cy="1105892"/>
          </a:xfrm>
          <a:prstGeom prst="roundRect">
            <a:avLst>
              <a:gd name="adj" fmla="val 9187"/>
            </a:avLst>
          </a:prstGeom>
          <a:solidFill>
            <a:srgbClr val="ECE8DF"/>
          </a:solidFill>
          <a:ln/>
        </p:spPr>
        <p:txBody>
          <a:bodyPr/>
          <a:p/>
        </p:txBody>
      </p:sp>
      <p:sp>
        <p:nvSpPr>
          <p:cNvPr id="5" name="Text 3"/>
          <p:cNvSpPr/>
          <p:nvPr/>
        </p:nvSpPr>
        <p:spPr>
          <a:xfrm>
            <a:off x="1016000" y="1908870"/>
            <a:ext cx="4918456" cy="229989"/>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D4A57"/>
                </a:solidFill>
                <a:latin typeface="JetBrains Mono" pitchFamily="49" charset="0"/>
                <a:ea typeface="JetBrains Mono" pitchFamily="49" charset="-122"/>
                <a:cs typeface="JetBrains Mono" pitchFamily="49" charset="-120"/>
              </a:rPr>
              <a:t>GPT JUDGE · MOMENT RAG VS BASELINE</a:t>
            </a:r>
            <a:endParaRPr lang="en-US" sz="1159" dirty="0"/>
          </a:p>
        </p:txBody>
      </p:sp>
      <p:sp>
        <p:nvSpPr>
          <p:cNvPr id="6" name="Text 4"/>
          <p:cNvSpPr/>
          <p:nvPr/>
        </p:nvSpPr>
        <p:spPr>
          <a:xfrm>
            <a:off x="1016000" y="2164259"/>
            <a:ext cx="4918456" cy="571103"/>
          </a:xfrm>
          <a:prstGeom prst="rect">
            <a:avLst/>
          </a:prstGeom>
          <a:noFill/>
          <a:ln/>
        </p:spPr>
        <p:txBody>
          <a:bodyPr wrap="square" lIns="0" tIns="0" rIns="0" bIns="0" rtlCol="0" anchor="t">
            <a:normAutofit/>
          </a:bodyPr>
          <a:lstStyle/>
          <a:p>
            <a:pPr algn="l" indent="0" marL="0">
              <a:lnSpc>
                <a:spcPts val="4312"/>
              </a:lnSpc>
              <a:buNone/>
            </a:pPr>
            <a:r>
              <a:rPr lang="en-US" sz="3080" b="1" dirty="0">
                <a:solidFill>
                  <a:srgbClr val="A33A15"/>
                </a:solidFill>
                <a:latin typeface="Space Grotesk" pitchFamily="34" charset="0"/>
                <a:ea typeface="Space Grotesk" pitchFamily="34" charset="-122"/>
                <a:cs typeface="Space Grotesk" pitchFamily="34" charset="-120"/>
              </a:rPr>
              <a:t>24/30</a:t>
            </a:r>
            <a:r>
              <a:rPr lang="en-US" sz="3080" b="1" dirty="0">
                <a:solidFill>
                  <a:srgbClr val="15212E"/>
                </a:solidFill>
                <a:latin typeface="Space Grotesk" pitchFamily="34" charset="0"/>
                <a:ea typeface="Space Grotesk" pitchFamily="34" charset="-122"/>
                <a:cs typeface="Space Grotesk" pitchFamily="34" charset="-120"/>
              </a:rPr>
              <a:t> vs </a:t>
            </a:r>
            <a:r>
              <a:rPr lang="en-US" sz="3080" b="1" dirty="0">
                <a:solidFill>
                  <a:srgbClr val="2F5A8C"/>
                </a:solidFill>
                <a:latin typeface="Space Grotesk" pitchFamily="34" charset="0"/>
                <a:ea typeface="Space Grotesk" pitchFamily="34" charset="-122"/>
                <a:cs typeface="Space Grotesk" pitchFamily="34" charset="-120"/>
              </a:rPr>
              <a:t>21/30</a:t>
            </a:r>
            <a:endParaRPr lang="en-US" sz="3080" dirty="0"/>
          </a:p>
        </p:txBody>
      </p:sp>
      <p:sp>
        <p:nvSpPr>
          <p:cNvPr id="7" name="Shape 5"/>
          <p:cNvSpPr/>
          <p:nvPr/>
        </p:nvSpPr>
        <p:spPr>
          <a:xfrm>
            <a:off x="6197600" y="1756470"/>
            <a:ext cx="5181600" cy="1105892"/>
          </a:xfrm>
          <a:prstGeom prst="roundRect">
            <a:avLst>
              <a:gd name="adj" fmla="val 9187"/>
            </a:avLst>
          </a:prstGeom>
          <a:solidFill>
            <a:srgbClr val="ECE8DF"/>
          </a:solidFill>
          <a:ln/>
        </p:spPr>
        <p:txBody>
          <a:bodyPr/>
          <a:p/>
        </p:txBody>
      </p:sp>
      <p:sp>
        <p:nvSpPr>
          <p:cNvPr id="8" name="Text 6"/>
          <p:cNvSpPr/>
          <p:nvPr/>
        </p:nvSpPr>
        <p:spPr>
          <a:xfrm>
            <a:off x="6400800" y="1908870"/>
            <a:ext cx="4918456" cy="229989"/>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3D4A57"/>
                </a:solidFill>
                <a:latin typeface="JetBrains Mono" pitchFamily="49" charset="0"/>
                <a:ea typeface="JetBrains Mono" pitchFamily="49" charset="-122"/>
                <a:cs typeface="JetBrains Mono" pitchFamily="49" charset="-120"/>
              </a:rPr>
              <a:t>CLAUDE JUDGE · MOMENT RAG VS BASELINE</a:t>
            </a:r>
            <a:endParaRPr lang="en-US" sz="1159" dirty="0"/>
          </a:p>
        </p:txBody>
      </p:sp>
      <p:sp>
        <p:nvSpPr>
          <p:cNvPr id="9" name="Text 7"/>
          <p:cNvSpPr/>
          <p:nvPr/>
        </p:nvSpPr>
        <p:spPr>
          <a:xfrm>
            <a:off x="6400800" y="2164259"/>
            <a:ext cx="4918456" cy="571103"/>
          </a:xfrm>
          <a:prstGeom prst="rect">
            <a:avLst/>
          </a:prstGeom>
          <a:noFill/>
          <a:ln/>
        </p:spPr>
        <p:txBody>
          <a:bodyPr wrap="square" lIns="0" tIns="0" rIns="0" bIns="0" rtlCol="0" anchor="t">
            <a:normAutofit/>
          </a:bodyPr>
          <a:lstStyle/>
          <a:p>
            <a:pPr algn="l" indent="0" marL="0">
              <a:lnSpc>
                <a:spcPts val="4312"/>
              </a:lnSpc>
              <a:buNone/>
            </a:pPr>
            <a:r>
              <a:rPr lang="en-US" sz="3080" b="1" dirty="0">
                <a:solidFill>
                  <a:srgbClr val="A33A15"/>
                </a:solidFill>
                <a:latin typeface="Space Grotesk" pitchFamily="34" charset="0"/>
                <a:ea typeface="Space Grotesk" pitchFamily="34" charset="-122"/>
                <a:cs typeface="Space Grotesk" pitchFamily="34" charset="-120"/>
              </a:rPr>
              <a:t>24/30</a:t>
            </a:r>
            <a:r>
              <a:rPr lang="en-US" sz="3080" b="1" dirty="0">
                <a:solidFill>
                  <a:srgbClr val="15212E"/>
                </a:solidFill>
                <a:latin typeface="Space Grotesk" pitchFamily="34" charset="0"/>
                <a:ea typeface="Space Grotesk" pitchFamily="34" charset="-122"/>
                <a:cs typeface="Space Grotesk" pitchFamily="34" charset="-120"/>
              </a:rPr>
              <a:t> vs </a:t>
            </a:r>
            <a:r>
              <a:rPr lang="en-US" sz="3080" b="1" dirty="0">
                <a:solidFill>
                  <a:srgbClr val="2F5A8C"/>
                </a:solidFill>
                <a:latin typeface="Space Grotesk" pitchFamily="34" charset="0"/>
                <a:ea typeface="Space Grotesk" pitchFamily="34" charset="-122"/>
                <a:cs typeface="Space Grotesk" pitchFamily="34" charset="-120"/>
              </a:rPr>
              <a:t>19/30</a:t>
            </a:r>
            <a:endParaRPr lang="en-US" sz="308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3078262"/>
          <a:ext cx="10553700" cy="2097584"/>
        </p:xfrm>
        <a:graphic>
          <a:graphicData uri="http://schemas.openxmlformats.org/drawingml/2006/table">
            <a:tbl>
              <a:tblPr/>
              <a:tblGrid>
                <a:gridCol w="2955036"/>
                <a:gridCol w="1899666"/>
                <a:gridCol w="1899666"/>
                <a:gridCol w="1899666"/>
                <a:gridCol w="1899666"/>
              </a:tblGrid>
              <a:tr h="349597">
                <a:tc>
                  <a:txBody>
                    <a:bodyPr/>
                    <a:lstStyle/>
                    <a:p>
                      <a:pPr indent="0" marL="0">
                        <a:lnSpc>
                          <a:spcPts val="1769"/>
                        </a:lnSpc>
                        <a:buNone/>
                      </a:pPr>
                      <a:r>
                        <a:rPr lang="en-US" sz="1263" b="1" dirty="0">
                          <a:solidFill>
                            <a:srgbClr val="15212E"/>
                          </a:solidFill>
                          <a:latin typeface="IBM Plex Sans" pitchFamily="34" charset="0"/>
                          <a:ea typeface="IBM Plex Sans" pitchFamily="34" charset="-122"/>
                          <a:cs typeface="IBM Plex Sans" pitchFamily="34" charset="-120"/>
                        </a:rPr>
                        <a:t>Correct, LLM-written cards</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769"/>
                        </a:lnSpc>
                        <a:buNone/>
                      </a:pPr>
                      <a:r>
                        <a:rPr lang="en-US" sz="1263" b="1" dirty="0">
                          <a:solidFill>
                            <a:srgbClr val="15212E"/>
                          </a:solidFill>
                          <a:latin typeface="IBM Plex Sans" pitchFamily="34" charset="0"/>
                          <a:ea typeface="IBM Plex Sans" pitchFamily="34" charset="-122"/>
                          <a:cs typeface="IBM Plex Sans" pitchFamily="34" charset="-120"/>
                        </a:rPr>
                        <a:t>Baseline · GPT</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769"/>
                        </a:lnSpc>
                        <a:buNone/>
                      </a:pPr>
                      <a:r>
                        <a:rPr lang="en-US" sz="1263" b="1" dirty="0">
                          <a:solidFill>
                            <a:srgbClr val="15212E"/>
                          </a:solidFill>
                          <a:latin typeface="IBM Plex Sans" pitchFamily="34" charset="0"/>
                          <a:ea typeface="IBM Plex Sans" pitchFamily="34" charset="-122"/>
                          <a:cs typeface="IBM Plex Sans" pitchFamily="34" charset="-120"/>
                        </a:rPr>
                        <a:t>Baseline · Claude</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769"/>
                        </a:lnSpc>
                        <a:buNone/>
                      </a:pPr>
                      <a:r>
                        <a:rPr lang="en-US" sz="1263" b="1" dirty="0">
                          <a:solidFill>
                            <a:srgbClr val="15212E"/>
                          </a:solidFill>
                          <a:latin typeface="IBM Plex Sans" pitchFamily="34" charset="0"/>
                          <a:ea typeface="IBM Plex Sans" pitchFamily="34" charset="-122"/>
                          <a:cs typeface="IBM Plex Sans" pitchFamily="34" charset="-120"/>
                        </a:rPr>
                        <a:t>Moment RAG · GPT</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769"/>
                        </a:lnSpc>
                        <a:buNone/>
                      </a:pPr>
                      <a:r>
                        <a:rPr lang="en-US" sz="1263" b="1" dirty="0">
                          <a:solidFill>
                            <a:srgbClr val="15212E"/>
                          </a:solidFill>
                          <a:latin typeface="IBM Plex Sans" pitchFamily="34" charset="0"/>
                          <a:ea typeface="IBM Plex Sans" pitchFamily="34" charset="-122"/>
                          <a:cs typeface="IBM Plex Sans" pitchFamily="34" charset="-120"/>
                        </a:rPr>
                        <a:t>Moment RAG · Claude</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49597">
                <a:tc>
                  <a:txBody>
                    <a:bodyPr/>
                    <a:lstStyle/>
                    <a:p>
                      <a:pP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Fact lookup (16)</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13</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13</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15</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15</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49597">
                <a:tc>
                  <a:txBody>
                    <a:bodyPr/>
                    <a:lstStyle/>
                    <a:p>
                      <a:pP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Explanation (10)</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8</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6</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7</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6</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49597">
                <a:tc>
                  <a:txBody>
                    <a:bodyPr/>
                    <a:lstStyle/>
                    <a:p>
                      <a:pP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Where in the video (4)</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0</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0</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2</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3</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8BAB2"/>
                      </a:solidFill>
                      <a:prstDash val="solid"/>
                      <a:round/>
                      <a:headEnd type="none" w="med" len="med"/>
                      <a:tailEnd type="none" w="med" len="med"/>
                    </a:lnL>
                    <a:lnR w="12700" cap="flat" cmpd="sng" algn="ctr">
                      <a:solidFill>
                        <a:srgbClr val="C8BA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AB2"/>
                      </a:solidFill>
                      <a:prstDash val="solid"/>
                      <a:round/>
                      <a:headEnd type="none" w="med" len="med"/>
                      <a:tailEnd type="none" w="med" len="med"/>
                    </a:lnB>
                    <a:solidFill>
                      <a:srgbClr val="FBE9DF"/>
                    </a:solidFill>
                  </a:tcPr>
                </a:tc>
              </a:tr>
              <a:tr h="349597">
                <a:tc>
                  <a:txBody>
                    <a:bodyPr/>
                    <a:lstStyle/>
                    <a:p>
                      <a:pP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Not in the video (6): declined</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6</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6</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6</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6</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8BAB2"/>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49597">
                <a:tc>
                  <a:txBody>
                    <a:bodyPr/>
                    <a:lstStyle/>
                    <a:p>
                      <a:pP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Rerun with extractive cards</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23 / 30</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20 / 30</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22 / 30</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769"/>
                        </a:lnSpc>
                        <a:buNone/>
                      </a:pPr>
                      <a:r>
                        <a:rPr lang="en-US" sz="1263" dirty="0">
                          <a:solidFill>
                            <a:srgbClr val="15212E"/>
                          </a:solidFill>
                          <a:latin typeface="IBM Plex Sans" pitchFamily="34" charset="0"/>
                          <a:ea typeface="IBM Plex Sans" pitchFamily="34" charset="-122"/>
                          <a:cs typeface="IBM Plex Sans" pitchFamily="34" charset="-120"/>
                        </a:rPr>
                        <a:t>21 / 30</a:t>
                      </a:r>
                      <a:endParaRPr lang="en-US" sz="1263" dirty="0">
                        <a:latin typeface="IBM Plex Sans" charset="0"/>
                        <a:ea typeface="IBM Plex Sans" charset="0"/>
                        <a:cs typeface="IBM Plex Sans" charset="0"/>
                      </a:endParaRPr>
                    </a:p>
                  </a:txBody>
                  <a:tcPr marL="56160" marR="56160" marT="56160" marB="5616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1" name="Text 8"/>
          <p:cNvSpPr/>
          <p:nvPr/>
        </p:nvSpPr>
        <p:spPr>
          <a:xfrm>
            <a:off x="812800" y="5376763"/>
            <a:ext cx="10883392" cy="490637"/>
          </a:xfrm>
          <a:prstGeom prst="rect">
            <a:avLst/>
          </a:prstGeom>
          <a:noFill/>
          <a:ln/>
        </p:spPr>
        <p:txBody>
          <a:bodyPr wrap="square" lIns="0" tIns="0" rIns="0" bIns="0" rtlCol="0" anchor="t">
            <a:normAutofit/>
          </a:bodyPr>
          <a:lstStyle/>
          <a:p>
            <a:pPr algn="l" indent="0" marL="0">
              <a:lnSpc>
                <a:spcPts val="1832"/>
              </a:lnSpc>
              <a:buNone/>
            </a:pPr>
            <a:r>
              <a:rPr lang="en-US" sz="1263" dirty="0">
                <a:solidFill>
                  <a:srgbClr val="3D4A57"/>
                </a:solidFill>
                <a:latin typeface="IBM Plex Sans" pitchFamily="34" charset="0"/>
                <a:ea typeface="IBM Plex Sans" pitchFamily="34" charset="-122"/>
                <a:cs typeface="IBM Plex Sans" pitchFamily="34" charset="-120"/>
              </a:rPr>
              <a:t>Extractive cards: effectively tied. The one-question lead flips between judges, inside the ±2-question run variance. Judges agree on 88.9% of verdicts (κ 0.70) with LLM cards, 93.1% (κ 0.82) with extractive.</a:t>
            </a:r>
            <a:endParaRPr lang="en-US" sz="1263"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8"/>
                </a:solidFill>
                <a:latin typeface="IBM Plex Sans" pitchFamily="34" charset="0"/>
                <a:ea typeface="IBM Plex Sans" pitchFamily="34" charset="-122"/>
                <a:cs typeface="IBM Plex Sans" pitchFamily="34" charset="-120"/>
              </a:rPr>
              <a:t>Each judge sees only the question, the reference and one answer, shuffled; no system names, scores or sources.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21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8A5E"/>
                </a:solidFill>
                <a:latin typeface="JetBrains Mono" pitchFamily="49" charset="0"/>
                <a:ea typeface="JetBrains Mono" pitchFamily="49" charset="-122"/>
                <a:cs typeface="JetBrains Mono" pitchFamily="49" charset="-120"/>
              </a:rPr>
              <a:t>KEY FINDINGS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F"/>
                </a:solidFill>
                <a:latin typeface="Space Grotesk" pitchFamily="34" charset="0"/>
                <a:ea typeface="Space Grotesk" pitchFamily="34" charset="-122"/>
                <a:cs typeface="Space Grotesk" pitchFamily="34" charset="-120"/>
              </a:rPr>
              <a:t>What moments change, and what they don't</a:t>
            </a:r>
            <a:endParaRPr lang="en-US" sz="3200" dirty="0"/>
          </a:p>
        </p:txBody>
      </p:sp>
      <p:sp>
        <p:nvSpPr>
          <p:cNvPr id="4" name="Text 2"/>
          <p:cNvSpPr/>
          <p:nvPr/>
        </p:nvSpPr>
        <p:spPr>
          <a:xfrm>
            <a:off x="812800" y="1930350"/>
            <a:ext cx="498348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08A5E"/>
                </a:solidFill>
                <a:latin typeface="Space Grotesk" pitchFamily="34" charset="0"/>
                <a:ea typeface="Space Grotesk" pitchFamily="34" charset="-122"/>
                <a:cs typeface="Space Grotesk" pitchFamily="34" charset="-120"/>
              </a:rPr>
              <a:t>1 · Chunks fail by dilution</a:t>
            </a:r>
            <a:endParaRPr lang="en-US" sz="1800" dirty="0"/>
          </a:p>
        </p:txBody>
      </p:sp>
      <p:sp>
        <p:nvSpPr>
          <p:cNvPr id="5" name="Text 3"/>
          <p:cNvSpPr/>
          <p:nvPr/>
        </p:nvSpPr>
        <p:spPr>
          <a:xfrm>
            <a:off x="812800" y="2280841"/>
            <a:ext cx="498348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CF"/>
                </a:solidFill>
                <a:latin typeface="IBM Plex Sans" pitchFamily="34" charset="0"/>
                <a:ea typeface="IBM Plex Sans" pitchFamily="34" charset="-122"/>
                <a:cs typeface="IBM Plex Sans" pitchFamily="34" charset="-120"/>
              </a:rPr>
              <a:t>The formula was indexed but ranked 9th, because its 200-word chunk also told two stories. Matching on 20s windows fixes that.</a:t>
            </a:r>
            <a:endParaRPr lang="en-US" sz="1300" dirty="0"/>
          </a:p>
        </p:txBody>
      </p:sp>
      <p:sp>
        <p:nvSpPr>
          <p:cNvPr id="6" name="Text 4"/>
          <p:cNvSpPr/>
          <p:nvPr/>
        </p:nvSpPr>
        <p:spPr>
          <a:xfrm>
            <a:off x="6309360" y="1930350"/>
            <a:ext cx="498348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08A5E"/>
                </a:solidFill>
                <a:latin typeface="Space Grotesk" pitchFamily="34" charset="0"/>
                <a:ea typeface="Space Grotesk" pitchFamily="34" charset="-122"/>
                <a:cs typeface="Space Grotesk" pitchFamily="34" charset="-120"/>
              </a:rPr>
              <a:t>2 · Better recall, better aim</a:t>
            </a:r>
            <a:endParaRPr lang="en-US" sz="1800" dirty="0"/>
          </a:p>
        </p:txBody>
      </p:sp>
      <p:sp>
        <p:nvSpPr>
          <p:cNvPr id="7" name="Text 5"/>
          <p:cNvSpPr/>
          <p:nvPr/>
        </p:nvSpPr>
        <p:spPr>
          <a:xfrm>
            <a:off x="6309360" y="2280841"/>
            <a:ext cx="498348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CF"/>
                </a:solidFill>
                <a:latin typeface="IBM Plex Sans" pitchFamily="34" charset="0"/>
                <a:ea typeface="IBM Plex Sans" pitchFamily="34" charset="-122"/>
                <a:cs typeface="IBM Plex Sans" pitchFamily="34" charset="-120"/>
              </a:rPr>
              <a:t>At the same word budget: 93% vs 83% of evidence found, and the jump lands a median 8s from the answer instead of 30s.</a:t>
            </a:r>
            <a:endParaRPr lang="en-US" sz="1300" dirty="0"/>
          </a:p>
        </p:txBody>
      </p:sp>
      <p:sp>
        <p:nvSpPr>
          <p:cNvPr id="8" name="Text 6"/>
          <p:cNvSpPr/>
          <p:nvPr/>
        </p:nvSpPr>
        <p:spPr>
          <a:xfrm>
            <a:off x="812800" y="2759571"/>
            <a:ext cx="498348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08A5E"/>
                </a:solidFill>
                <a:latin typeface="Space Grotesk" pitchFamily="34" charset="0"/>
                <a:ea typeface="Space Grotesk" pitchFamily="34" charset="-122"/>
                <a:cs typeface="Space Grotesk" pitchFamily="34" charset="-120"/>
              </a:rPr>
              <a:t>3 · Enrichment is not optional</a:t>
            </a:r>
            <a:endParaRPr lang="en-US" sz="1800" dirty="0"/>
          </a:p>
        </p:txBody>
      </p:sp>
      <p:sp>
        <p:nvSpPr>
          <p:cNvPr id="9" name="Text 7"/>
          <p:cNvSpPr/>
          <p:nvPr/>
        </p:nvSpPr>
        <p:spPr>
          <a:xfrm>
            <a:off x="812800" y="3110061"/>
            <a:ext cx="498348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CF"/>
                </a:solidFill>
                <a:latin typeface="IBM Plex Sans" pitchFamily="34" charset="0"/>
                <a:ea typeface="IBM Plex Sans" pitchFamily="34" charset="-122"/>
                <a:cs typeface="IBM Plex Sans" pitchFamily="34" charset="-120"/>
              </a:rPr>
              <a:t>LLM-written cards made the card branch help. Keyless extractive cards repeated chapter titles; answer quality was effectively tied under both judges, with one-question margins.</a:t>
            </a:r>
            <a:endParaRPr lang="en-US" sz="1300" dirty="0"/>
          </a:p>
        </p:txBody>
      </p:sp>
      <p:sp>
        <p:nvSpPr>
          <p:cNvPr id="10" name="Text 8"/>
          <p:cNvSpPr/>
          <p:nvPr/>
        </p:nvSpPr>
        <p:spPr>
          <a:xfrm>
            <a:off x="6309360" y="2759571"/>
            <a:ext cx="498348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08A5E"/>
                </a:solidFill>
                <a:latin typeface="Space Grotesk" pitchFamily="34" charset="0"/>
                <a:ea typeface="Space Grotesk" pitchFamily="34" charset="-122"/>
                <a:cs typeface="Space Grotesk" pitchFamily="34" charset="-120"/>
              </a:rPr>
              <a:t>4 · Short moments split lists</a:t>
            </a:r>
            <a:endParaRPr lang="en-US" sz="1800" dirty="0"/>
          </a:p>
        </p:txBody>
      </p:sp>
      <p:sp>
        <p:nvSpPr>
          <p:cNvPr id="11" name="Text 9"/>
          <p:cNvSpPr/>
          <p:nvPr/>
        </p:nvSpPr>
        <p:spPr>
          <a:xfrm>
            <a:off x="6309360" y="3110061"/>
            <a:ext cx="498348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9C4CF"/>
                </a:solidFill>
                <a:latin typeface="IBM Plex Sans" pitchFamily="34" charset="0"/>
                <a:ea typeface="IBM Plex Sans" pitchFamily="34" charset="-122"/>
                <a:cs typeface="IBM Plex Sans" pitchFamily="34" charset="-120"/>
              </a:rPr>
              <a:t>Five-part and three-part answers that run 1–3 minutes get cut across moments. That is the one question longer blocks win.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3A15"/>
                </a:solidFill>
                <a:latin typeface="JetBrains Mono" pitchFamily="49" charset="0"/>
                <a:ea typeface="JetBrains Mono" pitchFamily="49" charset="-122"/>
                <a:cs typeface="JetBrains Mono" pitchFamily="49" charset="-120"/>
              </a:rPr>
              <a:t>LIMITATIONS AND NEXT STEPS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12E"/>
                </a:solidFill>
                <a:latin typeface="Space Grotesk" pitchFamily="34" charset="0"/>
                <a:ea typeface="Space Grotesk" pitchFamily="34" charset="-122"/>
                <a:cs typeface="Space Grotesk" pitchFamily="34" charset="-120"/>
              </a:rPr>
              <a:t>Small study, clear next steps</a:t>
            </a:r>
            <a:endParaRPr lang="en-US" sz="3200" dirty="0"/>
          </a:p>
        </p:txBody>
      </p:sp>
      <p:sp>
        <p:nvSpPr>
          <p:cNvPr id="4" name="Text 2"/>
          <p:cNvSpPr/>
          <p:nvPr/>
        </p:nvSpPr>
        <p:spPr>
          <a:xfrm>
            <a:off x="812800" y="1879550"/>
            <a:ext cx="52324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12E"/>
                </a:solidFill>
                <a:latin typeface="Space Grotesk" pitchFamily="34" charset="0"/>
                <a:ea typeface="Space Grotesk" pitchFamily="34" charset="-122"/>
                <a:cs typeface="Space Grotesk" pitchFamily="34" charset="-120"/>
              </a:rPr>
              <a:t>Limitations</a:t>
            </a:r>
            <a:endParaRPr lang="en-US" sz="1800" dirty="0"/>
          </a:p>
        </p:txBody>
      </p:sp>
      <p:sp>
        <p:nvSpPr>
          <p:cNvPr id="5" name="Text 3"/>
          <p:cNvSpPr/>
          <p:nvPr/>
        </p:nvSpPr>
        <p:spPr>
          <a:xfrm>
            <a:off x="898144" y="2280841"/>
            <a:ext cx="5139436" cy="250190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36 questions labeled by one person: one question is 3.3 points; ±2 questions of run variance</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Graded by LLM judges, not human raters. A Claude judge reduces same-family bias, but answer style can still reveal the system</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Gate fit on 14 calibration questions; the groups were only 0.014 apart</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The LLM sometimes quotes a moment's start, not the anchor time</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Boundaries snap to 20s windows, not sentences</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Transcript only: no frame (CLIP) branch, unlike Moment Search</a:t>
            </a:r>
            <a:endParaRPr lang="en-US" sz="1300" dirty="0"/>
          </a:p>
        </p:txBody>
      </p:sp>
      <p:sp>
        <p:nvSpPr>
          <p:cNvPr id="6" name="Text 4"/>
          <p:cNvSpPr/>
          <p:nvPr/>
        </p:nvSpPr>
        <p:spPr>
          <a:xfrm>
            <a:off x="6299200" y="1879550"/>
            <a:ext cx="52324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12E"/>
                </a:solidFill>
                <a:latin typeface="Space Grotesk" pitchFamily="34" charset="0"/>
                <a:ea typeface="Space Grotesk" pitchFamily="34" charset="-122"/>
                <a:cs typeface="Space Grotesk" pitchFamily="34" charset="-120"/>
              </a:rPr>
              <a:t>Improvements</a:t>
            </a:r>
            <a:endParaRPr lang="en-US" sz="1800" dirty="0"/>
          </a:p>
        </p:txBody>
      </p:sp>
      <p:sp>
        <p:nvSpPr>
          <p:cNvPr id="7" name="Text 5"/>
          <p:cNvSpPr/>
          <p:nvPr/>
        </p:nvSpPr>
        <p:spPr>
          <a:xfrm>
            <a:off x="6384544" y="2280841"/>
            <a:ext cx="5139436" cy="200660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Read the next moment when a list or explanation runs past the edge</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Put the anchor time in the citation itself, not just the prompt</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Always use LLM-written cards; never fall back to chapter titles</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Add Moment Search's visual branch for the slides he shows</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Human spot-checks of LLM verdicts; several judges and labelers across videos</a:t>
            </a:r>
            <a:endParaRPr lang="en-US" sz="1300" dirty="0"/>
          </a:p>
          <a:p>
            <a:pPr algn="l" marL="168656" indent="-168656">
              <a:lnSpc>
                <a:spcPts val="1950"/>
              </a:lnSpc>
              <a:buSzPct val="100000"/>
              <a:buChar char="•"/>
            </a:pPr>
            <a:r>
              <a:rPr lang="en-US" sz="1300" dirty="0">
                <a:solidFill>
                  <a:srgbClr val="3D4A57"/>
                </a:solidFill>
                <a:latin typeface="IBM Plex Sans" pitchFamily="34" charset="0"/>
                <a:ea typeface="IBM Plex Sans" pitchFamily="34" charset="-122"/>
                <a:cs typeface="IBM Plex Sans" pitchFamily="34" charset="-120"/>
              </a:rPr>
              <a:t>Hierarchical search: chapter → moment → window</a:t>
            </a:r>
            <a:endParaRPr lang="en-US" sz="1300" dirty="0"/>
          </a:p>
        </p:txBody>
      </p:sp>
    </p:spTree>
  </p:cSld>
  <p:clrMapOvr>
    <a:masterClrMapping/>
  </p:clrMapOvr>
</p:sld>
</file>

<file path=ppt/theme/theme1.xml><?xml version="1.0" encoding="utf-8"?>
<a:theme xmlns:a="http://schemas.openxmlformats.org/drawingml/2006/main" name="Implement Semantic Search to Moment Search">
  <a:themeElements>
    <a:clrScheme name="Implement Semantic Search to Moment Search">
      <a:dk1>
        <a:srgbClr val="15212E"/>
      </a:dk1>
      <a:lt1>
        <a:srgbClr val="F6F4EF"/>
      </a:lt1>
      <a:dk2>
        <a:srgbClr val="4D565E"/>
      </a:dk2>
      <a:lt2>
        <a:srgbClr val="E0DFDC"/>
      </a:lt2>
      <a:accent1>
        <a:srgbClr val="C4461B"/>
      </a:accent1>
      <a:accent2>
        <a:srgbClr val="E08A5E"/>
      </a:accent2>
      <a:accent3>
        <a:srgbClr val="3F6FA8"/>
      </a:accent3>
      <a:accent4>
        <a:srgbClr val="A33A15"/>
      </a:accent4>
      <a:accent5>
        <a:srgbClr val="2F5A8C"/>
      </a:accent5>
      <a:accent6>
        <a:srgbClr val="3D4A57"/>
      </a:accent6>
      <a:hlink>
        <a:srgbClr val="0563C1"/>
      </a:hlink>
      <a:folHlink>
        <a:srgbClr val="954F72"/>
      </a:folHlink>
    </a:clrScheme>
    <a:fontScheme name="Implement Semantic Search to Moment Search">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 Semantic Search to Moment Search</dc:title>
  <dc:subject/>
  <dc:creator/>
  <cp:lastModifiedBy/>
  <cp:revision>1</cp:revision>
  <dcterms:created xsi:type="dcterms:W3CDTF">2026-10-01T02:51:59Z</dcterms:created>
  <dcterms:modified xsi:type="dcterms:W3CDTF">2026-10-01T02:51:59Z</dcterms:modified>
</cp:coreProperties>
</file>